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0492783-9572-e850-52fa-1af594f3f540}">
          <p14:sldIdLst>
            <p14:sldId id="256"/>
          </p14:sldIdLst>
        </p14:section>
        <p14:section name="Status" id="{3801a877-c0ba-4e84-b1a8-6a6e4e472414}">
          <p14:sldIdLst>
            <p14:sldId id="257"/>
            <p14:sldId id="258"/>
          </p14:sldIdLst>
        </p14:section>
        <p14:section name="Evidence" id="{1976a79e-fd99-ec0e-5240-58ca9405c073}">
          <p14:sldIdLst>
            <p14:sldId id="259"/>
          </p14:sldIdLst>
        </p14:section>
        <p14:section name="Benchmark" id="{a46dec90-68ea-16ad-d7d7-c5deed6e96a3}">
          <p14:sldIdLst>
            <p14:sldId id="260"/>
            <p14:sldId id="261"/>
          </p14:sldIdLst>
        </p14:section>
        <p14:section name="Findings" id="{e1c6ebb7-5d78-fffe-99e3-305952ee4646}">
          <p14:sldIdLst>
            <p14:sldId id="262"/>
            <p14:sldId id="263"/>
          </p14:sldIdLst>
        </p14:section>
        <p14:section name="Actions" id="{4510c493-35af-e733-3010-4741751c0949}">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Indicators</c:v>
                </c:pt>
              </c:strCache>
            </c:strRef>
          </c:tx>
          <c:spPr>
            <a:solidFill>
              <a:schemeClr val="accent1"/>
            </a:solidFill>
            <a:ln w="9525" cap="flat">
              <a:solidFill>
                <a:srgbClr val="F9F9F9"/>
              </a:solidFill>
              <a:prstDash val="solid"/>
              <a:round/>
            </a:ln>
            <a:effectLst/>
          </c:spPr>
          <c:dPt>
            <c:idx val="0"/>
            <c:bubble3D val="0"/>
            <c:spPr>
              <a:solidFill>
                <a:srgbClr val="3FAA3A"/>
              </a:solidFill>
              <a:ln w="25400" cap="flat">
                <a:solidFill>
                  <a:srgbClr val="FFFFFF"/>
                </a:solidFill>
                <a:prstDash val="solid"/>
                <a:round/>
              </a:ln>
              <a:effectLst/>
            </c:spPr>
          </c:dPt>
          <c:dPt>
            <c:idx val="1"/>
            <c:bubble3D val="0"/>
            <c:spPr>
              <a:solidFill>
                <a:srgbClr val="97BC62"/>
              </a:solidFill>
              <a:ln w="25400" cap="flat">
                <a:solidFill>
                  <a:srgbClr val="FFFFFF"/>
                </a:solidFill>
                <a:prstDash val="solid"/>
                <a:round/>
              </a:ln>
              <a:effectLst/>
            </c:spPr>
          </c:dPt>
          <c:dPt>
            <c:idx val="2"/>
            <c:bubble3D val="0"/>
            <c:spPr>
              <a:solidFill>
                <a:srgbClr val="E3B04B"/>
              </a:solidFill>
              <a:ln w="25400" cap="flat">
                <a:solidFill>
                  <a:srgbClr val="FFFFFF"/>
                </a:solidFill>
                <a:prstDash val="solid"/>
                <a:round/>
              </a:ln>
              <a:effectLst/>
            </c:spPr>
          </c:dPt>
          <c:dPt>
            <c:idx val="3"/>
            <c:bubble3D val="0"/>
            <c:spPr>
              <a:solidFill>
                <a:srgbClr val="B45309"/>
              </a:solidFill>
              <a:ln w="25400" cap="flat">
                <a:solidFill>
                  <a:srgbClr val="FFFFFF"/>
                </a:solidFill>
                <a:prstDash val="solid"/>
                <a:round/>
              </a:ln>
              <a:effectLst/>
            </c:spPr>
          </c:dPt>
          <c:dLbls>
            <c:dLbl>
              <c:idx val="0"/>
              <c:numFmt formatCode="General" sourceLinked="0"/>
              <c:spPr/>
              <c:txPr>
                <a:bodyPr/>
                <a:lstStyle/>
                <a:p>
                  <a:pPr>
                    <a:defRPr sz="1600" b="1" i="0" u="none" strike="noStrike">
                      <a:solidFill>
                        <a:srgbClr val="FFFFFF"/>
                      </a:solidFill>
                      <a:latin typeface="+mn-lt"/>
                    </a:defRPr>
                  </a:pPr>
                </a:p>
              </c:txPr>
              <c:showLegendKey val="0"/>
              <c:showVal val="1"/>
              <c:showCatName val="0"/>
              <c:showSerName val="0"/>
              <c:showPercent val="0"/>
              <c:showBubbleSize val="0"/>
            </c:dLbl>
            <c:dLbl>
              <c:idx val="1"/>
              <c:numFmt formatCode="General" sourceLinked="0"/>
              <c:spPr/>
              <c:txPr>
                <a:bodyPr/>
                <a:lstStyle/>
                <a:p>
                  <a:pPr>
                    <a:defRPr sz="1600" b="1" i="0" u="none" strike="noStrike">
                      <a:solidFill>
                        <a:srgbClr val="FFFFFF"/>
                      </a:solidFill>
                      <a:latin typeface="+mn-lt"/>
                    </a:defRPr>
                  </a:pPr>
                </a:p>
              </c:txPr>
              <c:showLegendKey val="0"/>
              <c:showVal val="1"/>
              <c:showCatName val="0"/>
              <c:showSerName val="0"/>
              <c:showPercent val="0"/>
              <c:showBubbleSize val="0"/>
            </c:dLbl>
            <c:dLbl>
              <c:idx val="2"/>
              <c:numFmt formatCode="General" sourceLinked="0"/>
              <c:spPr/>
              <c:txPr>
                <a:bodyPr/>
                <a:lstStyle/>
                <a:p>
                  <a:pPr>
                    <a:defRPr sz="1600" b="1" i="0" u="none" strike="noStrike">
                      <a:solidFill>
                        <a:srgbClr val="FFFFFF"/>
                      </a:solidFill>
                      <a:latin typeface="+mn-lt"/>
                    </a:defRPr>
                  </a:pPr>
                </a:p>
              </c:txPr>
              <c:showLegendKey val="0"/>
              <c:showVal val="1"/>
              <c:showCatName val="0"/>
              <c:showSerName val="0"/>
              <c:showPercent val="0"/>
              <c:showBubbleSize val="0"/>
            </c:dLbl>
            <c:dLbl>
              <c:idx val="3"/>
              <c:numFmt formatCode="General" sourceLinked="0"/>
              <c:spPr/>
              <c:txPr>
                <a:bodyPr/>
                <a:lstStyle/>
                <a:p>
                  <a:pPr>
                    <a:defRPr sz="1600" b="1" i="0" u="none" strike="noStrike">
                      <a:solidFill>
                        <a:srgbClr val="FFFFFF"/>
                      </a:solidFill>
                      <a:latin typeface="+mn-lt"/>
                    </a:defRPr>
                  </a:pPr>
                </a:p>
              </c:txPr>
              <c:showLegendKey val="0"/>
              <c:showVal val="1"/>
              <c:showCatName val="0"/>
              <c:showSerName val="0"/>
              <c:showPercent val="0"/>
              <c:showBubbleSize val="0"/>
            </c:dLbl>
            <c:numFmt formatCode="General"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2025 evidence</c:v>
                </c:pt>
                <c:pt idx="1">
                  <c:v>Pre-2025 policy only</c:v>
                </c:pt>
                <c:pt idx="2">
                  <c:v>Draft only</c:v>
                </c:pt>
                <c:pt idx="3">
                  <c:v>No evidence yet</c:v>
                </c:pt>
              </c:strCache>
            </c:strRef>
          </c:cat>
          <c:val>
            <c:numRef>
              <c:f>Sheet1!$B$2:$B$5</c:f>
              <c:numCache>
                <c:ptCount val="4"/>
                <c:pt idx="0">
                  <c:v>7</c:v>
                </c:pt>
                <c:pt idx="1">
                  <c:v>3</c:v>
                </c:pt>
                <c:pt idx="2">
                  <c:v>1</c:v>
                </c:pt>
                <c:pt idx="3">
                  <c:v>3</c:v>
                </c:pt>
              </c:numCache>
            </c:numRef>
          </c:val>
        </c:ser>
        <c:firstSliceAng val="0"/>
        <c:holeSize val="62"/>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of this update: where the SDG 15 evidence package stands, what we learned from VSU, and what we need from the team before the 3 to 5 November workshop and the 9 November data deadline.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indicators have dated 2025 evidence. Three more (15.3.1, 15.3.3, 15.4.3) are covered only by policies adopted before 2025. 15.2.6 is a draft because no 2025 community programme on land management for tourism was found. 15.2.2, 15.3.2 and 15.3.4 have nothing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edition kept only 2025 items. After comparing with VSU we added a Continuing implementation section to every indicator so that pre-2025 policies and 2024 to 2026 activity are visible. All files are in the repository under submission/sdg15/evidence-docs.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examples, not the full list. Each has a dated source article and photos from MMSU STRATCOM. The Pasuquin item still needs a copy of the signed agreement. Free-access wording for the trainings is also still to be confirmed.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VSU's 2026 result comes from its June 2026 announcement. VSU's evidence files are public. They mix years, which is why we added a Continuing implementation section. We cannot tell from outside how much of VSU's rank came from the documents versus its research metrics, so treat this as a pattern, not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items come from the MMSU Sirmata 2040 documents, the Integrated Pollution and Waste Management Program and news articles. We have not confirmed that each policy is still in force or when THE's review window starts. The 2020 IPWMP revision is the one most at risk of falling outside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scanned all 2,866 articles on the MMSU news site (2007 to October 2026) and found no post about the memoranda. The best public item is the CAFSD article. MMSU's own SDG pages cite three Facebook posts that we could not open without logging in. The two memos are in the focal person's mailbox.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gaps are where no document exists. 15.2.2 asks for a policy, so submitting farm practices would mislead reviewers. The risks are decisions or confirmations rather than missing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Owners are suggestions based on who is likely to hold each record. Please correct them in the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Dates from Special Order 26-649 and the data deadline recorded earlier in this project. The 29 November session falls after the 9 November data deadline, so one of the two dates may be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7680960" cy="173736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731520" y="3931920"/>
            <a:ext cx="7680960" cy="914400"/>
          </a:xfrm>
          <a:prstGeom prst="rect">
            <a:avLst/>
          </a:prstGeom>
          <a:noFill/>
          <a:ln/>
        </p:spPr>
        <p:txBody>
          <a:bodyPr wrap="square" rtlCol="0"/>
          <a:lstStyle>
            <a:lvl1pPr algn="l" indent="0" marL="0">
              <a:buNone/>
              <a:defRPr lang="en-US" sz="2200" dirty="0">
                <a:solidFill>
                  <a:schemeClr val="bg2"/>
                </a:solidFill>
              </a:defRPr>
            </a:lvl1pPr>
          </a:lstStyle>
          <a:p>
            <a:pPr algn="l" indent="0" marL="0">
              <a:buNone/>
            </a:pPr>
            <a:endParaRPr lang="en-US" sz="2200" dirty="0"/>
          </a:p>
        </p:txBody>
      </p:sp>
      <p:sp>
        <p:nvSpPr>
          <p:cNvPr id="4" name="Text 0"/>
          <p:cNvSpPr/>
          <p:nvPr>
            <p:ph idx="102" type="body" hasCustomPrompt="1"/>
          </p:nvPr>
        </p:nvSpPr>
        <p:spPr>
          <a:xfrm>
            <a:off x="731520" y="5577840"/>
            <a:ext cx="7680960" cy="548640"/>
          </a:xfrm>
          <a:prstGeom prst="rect">
            <a:avLst/>
          </a:prstGeom>
          <a:noFill/>
          <a:ln/>
        </p:spPr>
        <p:txBody>
          <a:bodyPr wrap="square" rtlCol="0"/>
          <a:lstStyle>
            <a:lvl1pPr algn="l" indent="0" marL="0">
              <a:buNone/>
              <a:defRPr lang="en-US" sz="1600" dirty="0">
                <a:solidFill>
                  <a:schemeClr val="accent6"/>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100" dirty="0">
                <a:solidFill>
                  <a:schemeClr val="accent5"/>
                </a:solidFill>
              </a:rPr>
              <a:t>MMSU · THE Impact Rankings 2027 · SDG 15 Life on Land</a:t>
            </a:r>
            <a:endParaRPr lang="en-US" sz="11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image" Target="../media/image-4-3.jp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4.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7680960" cy="1737360"/>
          </a:xfrm>
          <a:prstGeom prst="rect">
            <a:avLst/>
          </a:prstGeom>
          <a:noFill/>
          <a:ln/>
        </p:spPr>
        <p:txBody>
          <a:bodyPr wrap="square" lIns="0" tIns="0" rIns="0" bIns="0" rtlCol="0" anchor="t"/>
          <a:lstStyle/>
          <a:p>
            <a:pPr algn="l" indent="0" marL="0">
              <a:buNone/>
            </a:pPr>
            <a:r>
              <a:rPr lang="en-US" sz="4800" b="1" dirty="0">
                <a:solidFill>
                  <a:schemeClr val="bg1"/>
                </a:solidFill>
              </a:rPr>
              <a:t>SDG 15 Life on Land</a:t>
            </a:r>
            <a:endParaRPr lang="en-US" sz="4800" dirty="0"/>
          </a:p>
        </p:txBody>
      </p:sp>
      <p:sp>
        <p:nvSpPr>
          <p:cNvPr id="3" name="Text 0"/>
          <p:cNvSpPr/>
          <p:nvPr>
            <p:ph idx="101" type="body" hasCustomPrompt="1"/>
          </p:nvPr>
        </p:nvSpPr>
        <p:spPr>
          <a:xfrm>
            <a:off x="731520" y="3931920"/>
            <a:ext cx="7680960" cy="914400"/>
          </a:xfrm>
          <a:prstGeom prst="rect">
            <a:avLst/>
          </a:prstGeom>
          <a:noFill/>
          <a:ln/>
        </p:spPr>
        <p:txBody>
          <a:bodyPr wrap="square" lIns="0" tIns="0" rIns="0" bIns="0" rtlCol="0" anchor="t"/>
          <a:lstStyle/>
          <a:p>
            <a:pPr algn="l" indent="0" marL="0">
              <a:buNone/>
            </a:pPr>
            <a:r>
              <a:rPr lang="en-US" sz="2200" dirty="0">
                <a:solidFill>
                  <a:schemeClr val="bg2"/>
                </a:solidFill>
              </a:rPr>
              <a:t>Evidence update for the THE Impact Rankings 2027</a:t>
            </a:r>
            <a:endParaRPr lang="en-US" sz="2200" dirty="0"/>
          </a:p>
        </p:txBody>
      </p:sp>
      <p:sp>
        <p:nvSpPr>
          <p:cNvPr id="4" name="Text 0"/>
          <p:cNvSpPr/>
          <p:nvPr>
            <p:ph idx="102" type="body" hasCustomPrompt="1"/>
          </p:nvPr>
        </p:nvSpPr>
        <p:spPr>
          <a:xfrm>
            <a:off x="731520" y="5577840"/>
            <a:ext cx="7680960" cy="548640"/>
          </a:xfrm>
          <a:prstGeom prst="rect">
            <a:avLst/>
          </a:prstGeom>
          <a:noFill/>
          <a:ln/>
        </p:spPr>
        <p:txBody>
          <a:bodyPr wrap="square" lIns="0" tIns="0" rIns="0" bIns="0" rtlCol="0" anchor="t"/>
          <a:lstStyle/>
          <a:p>
            <a:pPr algn="l" indent="0" marL="0">
              <a:buNone/>
            </a:pPr>
            <a:r>
              <a:rPr lang="en-US" sz="1600" dirty="0">
                <a:solidFill>
                  <a:schemeClr val="accent6"/>
                </a:solidFill>
              </a:rPr>
              <a:t>THE Core Team (SO No. 26-649) · update as of 30 October 2026</a:t>
            </a:r>
            <a:endParaRPr lang="en-US" sz="1600" dirty="0"/>
          </a:p>
        </p:txBody>
      </p:sp>
      <p:pic>
        <p:nvPicPr>
          <p:cNvPr id="5" name="SDG 15 tile" descr="SDG 15 Life on Land tile">    </p:cNvPr>
          <p:cNvPicPr>
            <a:picLocks noChangeAspect="1"/>
          </p:cNvPicPr>
          <p:nvPr/>
        </p:nvPicPr>
        <p:blipFill>
          <a:blip r:embed="rId1"/>
          <a:stretch>
            <a:fillRect/>
          </a:stretch>
        </p:blipFill>
        <p:spPr>
          <a:xfrm>
            <a:off x="8778240" y="2011680"/>
            <a:ext cx="2743200" cy="2743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lIns="0" tIns="0" rIns="0" bIns="0" rtlCol="0" anchor="ctr"/>
          <a:lstStyle/>
          <a:p>
            <a:pPr algn="l" indent="0" marL="0">
              <a:buNone/>
            </a:pPr>
            <a:r>
              <a:rPr lang="en-US" sz="3400" b="1" dirty="0">
                <a:solidFill>
                  <a:schemeClr val="tx2"/>
                </a:solidFill>
              </a:rPr>
              <a:t>Ten of 14 questions have evidence; three have none</a:t>
            </a:r>
            <a:endParaRPr lang="en-US" sz="3400" dirty="0"/>
          </a:p>
        </p:txBody>
      </p:sp>
      <p:graphicFrame>
        <p:nvGraphicFramePr>
          <p:cNvPr id="3" name="Chart 0" descr=""/>
          <p:cNvGraphicFramePr/>
          <p:nvPr/>
        </p:nvGraphicFramePr>
        <p:xfrm>
          <a:off x="548640" y="1417320"/>
          <a:ext cx="4754880" cy="4754880"/>
        </p:xfrm>
        <a:graphic xmlns:a="http://schemas.openxmlformats.org/drawingml/2006/main">
          <a:graphicData uri="http://schemas.openxmlformats.org/drawingml/2006/chart">
            <c:chart xmlns:c="http://schemas.openxmlformats.org/drawingml/2006/chart" r:id="rId1"/>
          </a:graphicData>
        </a:graphic>
      </p:graphicFrame>
      <p:sp>
        <p:nvSpPr>
          <p:cNvPr id="4" name="Chart centre label"/>
          <p:cNvSpPr txBox="1"/>
          <p:nvPr/>
        </p:nvSpPr>
        <p:spPr>
          <a:xfrm>
            <a:off x="2011680" y="3154680"/>
            <a:ext cx="1828800" cy="1280160"/>
          </a:xfrm>
          <a:prstGeom prst="rect">
            <a:avLst/>
          </a:prstGeom>
          <a:noFill/>
          <a:ln/>
        </p:spPr>
        <p:txBody>
          <a:bodyPr wrap="square" lIns="0" tIns="0" rIns="0" bIns="0" rtlCol="0" anchor="t"/>
          <a:lstStyle/>
          <a:p>
            <a:pPr algn="ctr" indent="0" marL="0">
              <a:buNone/>
            </a:pPr>
            <a:r>
              <a:rPr lang="en-US" sz="5400" b="1" dirty="0">
                <a:solidFill>
                  <a:schemeClr val="tx2"/>
                </a:solidFill>
                <a:latin typeface="+mj-lt" pitchFamily="34" charset="0"/>
                <a:ea typeface="+mj-lt" pitchFamily="34" charset="-122"/>
                <a:cs typeface="+mj-lt" pitchFamily="34" charset="-120"/>
              </a:rPr>
              <a:t>14</a:t>
            </a:r>
            <a:endParaRPr lang="en-US" sz="5400" dirty="0"/>
          </a:p>
          <a:p>
            <a:pPr algn="ctr" indent="0" marL="0">
              <a:buNone/>
            </a:pPr>
            <a:r>
              <a:rPr lang="en-US" sz="1600" dirty="0">
                <a:solidFill>
                  <a:schemeClr val="accent5"/>
                </a:solidFill>
              </a:rPr>
              <a:t>indicators</a:t>
            </a:r>
            <a:endParaRPr lang="en-US" sz="5400" dirty="0"/>
          </a:p>
        </p:txBody>
      </p:sp>
      <p:sp>
        <p:nvSpPr>
          <p:cNvPr id="5" name="Status card 2025 evidence"/>
          <p:cNvSpPr/>
          <p:nvPr/>
        </p:nvSpPr>
        <p:spPr>
          <a:xfrm>
            <a:off x="5760720" y="1600200"/>
            <a:ext cx="5852160" cy="1005840"/>
          </a:xfrm>
          <a:prstGeom prst="roundRect">
            <a:avLst>
              <a:gd name="adj" fmla="val 10909"/>
            </a:avLst>
          </a:prstGeom>
          <a:solidFill>
            <a:schemeClr val="bg2"/>
          </a:solidFill>
          <a:ln w="12700">
            <a:solidFill>
              <a:schemeClr val="bg2"/>
            </a:solidFill>
            <a:prstDash val="solid"/>
          </a:ln>
        </p:spPr>
      </p:sp>
      <p:sp>
        <p:nvSpPr>
          <p:cNvPr id="6" name="Count chip 2025 evidence"/>
          <p:cNvSpPr/>
          <p:nvPr/>
        </p:nvSpPr>
        <p:spPr>
          <a:xfrm>
            <a:off x="5943600" y="1783080"/>
            <a:ext cx="640080" cy="640080"/>
          </a:xfrm>
          <a:prstGeom prst="roundRect">
            <a:avLst>
              <a:gd name="adj" fmla="val 14286"/>
            </a:avLst>
          </a:prstGeom>
          <a:solidFill>
            <a:srgbClr val="3FAA3A"/>
          </a:solidFill>
          <a:ln w="12700">
            <a:solidFill>
              <a:srgbClr val="3FAA3A"/>
            </a:solidFill>
            <a:prstDash val="solid"/>
          </a:ln>
        </p:spPr>
      </p:sp>
      <p:sp>
        <p:nvSpPr>
          <p:cNvPr id="7" name="Text 4"/>
          <p:cNvSpPr txBox="1"/>
          <p:nvPr/>
        </p:nvSpPr>
        <p:spPr>
          <a:xfrm>
            <a:off x="5943600" y="1783080"/>
            <a:ext cx="640080" cy="640080"/>
          </a:xfrm>
          <a:prstGeom prst="rect">
            <a:avLst/>
          </a:prstGeom>
          <a:noFill/>
          <a:ln/>
        </p:spPr>
        <p:txBody>
          <a:bodyPr wrap="square" lIns="0" tIns="0" rIns="0" bIns="0" rtlCol="0" anchor="ctr"/>
          <a:lstStyle/>
          <a:p>
            <a:pPr algn="ctr" indent="0" marL="0">
              <a:buNone/>
            </a:pPr>
            <a:r>
              <a:rPr lang="en-US" sz="2800" b="1" dirty="0">
                <a:solidFill>
                  <a:schemeClr val="bg1"/>
                </a:solidFill>
                <a:latin typeface="+mj-lt" pitchFamily="34" charset="0"/>
                <a:ea typeface="+mj-lt" pitchFamily="34" charset="-122"/>
                <a:cs typeface="+mj-lt" pitchFamily="34" charset="-120"/>
              </a:rPr>
              <a:t>7</a:t>
            </a:r>
            <a:endParaRPr lang="en-US" sz="2800" dirty="0"/>
          </a:p>
        </p:txBody>
      </p:sp>
      <p:sp>
        <p:nvSpPr>
          <p:cNvPr id="8" name="Text 5"/>
          <p:cNvSpPr txBox="1"/>
          <p:nvPr/>
        </p:nvSpPr>
        <p:spPr>
          <a:xfrm>
            <a:off x="6812280" y="1737360"/>
            <a:ext cx="4663440" cy="365760"/>
          </a:xfrm>
          <a:prstGeom prst="rect">
            <a:avLst/>
          </a:prstGeom>
          <a:noFill/>
          <a:ln/>
        </p:spPr>
        <p:txBody>
          <a:bodyPr wrap="square" lIns="0" tIns="0" rIns="0" bIns="0" rtlCol="0" anchor="t"/>
          <a:lstStyle/>
          <a:p>
            <a:pPr indent="0" marL="0">
              <a:buNone/>
            </a:pPr>
            <a:r>
              <a:rPr lang="en-US" sz="2000" b="1" dirty="0">
                <a:solidFill>
                  <a:schemeClr val="tx2"/>
                </a:solidFill>
              </a:rPr>
              <a:t>2025 evidence</a:t>
            </a:r>
            <a:endParaRPr lang="en-US" sz="2000" dirty="0"/>
          </a:p>
        </p:txBody>
      </p:sp>
      <p:sp>
        <p:nvSpPr>
          <p:cNvPr id="9" name="Text 6"/>
          <p:cNvSpPr txBox="1"/>
          <p:nvPr/>
        </p:nvSpPr>
        <p:spPr>
          <a:xfrm>
            <a:off x="6812280" y="2130552"/>
            <a:ext cx="4663440" cy="411480"/>
          </a:xfrm>
          <a:prstGeom prst="rect">
            <a:avLst/>
          </a:prstGeom>
          <a:noFill/>
          <a:ln/>
        </p:spPr>
        <p:txBody>
          <a:bodyPr wrap="square" lIns="0" tIns="0" rIns="0" bIns="0" rtlCol="0" anchor="t"/>
          <a:lstStyle/>
          <a:p>
            <a:pPr indent="0" marL="0">
              <a:buNone/>
            </a:pPr>
            <a:r>
              <a:rPr lang="en-US" sz="1400" dirty="0">
                <a:solidFill>
                  <a:schemeClr val="accent5"/>
                </a:solidFill>
              </a:rPr>
              <a:t>15.2.1, 15.2.3, 15.2.4, 15.2.5, 15.3.5, 15.4.1, 15.4.2</a:t>
            </a:r>
            <a:endParaRPr lang="en-US" sz="1400" dirty="0"/>
          </a:p>
        </p:txBody>
      </p:sp>
      <p:sp>
        <p:nvSpPr>
          <p:cNvPr id="10" name="Status card Pre-2025 policy only"/>
          <p:cNvSpPr/>
          <p:nvPr/>
        </p:nvSpPr>
        <p:spPr>
          <a:xfrm>
            <a:off x="5760720" y="2770632"/>
            <a:ext cx="5852160" cy="1005840"/>
          </a:xfrm>
          <a:prstGeom prst="roundRect">
            <a:avLst>
              <a:gd name="adj" fmla="val 10909"/>
            </a:avLst>
          </a:prstGeom>
          <a:solidFill>
            <a:schemeClr val="bg2"/>
          </a:solidFill>
          <a:ln w="12700">
            <a:solidFill>
              <a:schemeClr val="bg2"/>
            </a:solidFill>
            <a:prstDash val="solid"/>
          </a:ln>
        </p:spPr>
      </p:sp>
      <p:sp>
        <p:nvSpPr>
          <p:cNvPr id="11" name="Count chip Pre-2025 policy only"/>
          <p:cNvSpPr/>
          <p:nvPr/>
        </p:nvSpPr>
        <p:spPr>
          <a:xfrm>
            <a:off x="5943600" y="2953512"/>
            <a:ext cx="640080" cy="640080"/>
          </a:xfrm>
          <a:prstGeom prst="roundRect">
            <a:avLst>
              <a:gd name="adj" fmla="val 14286"/>
            </a:avLst>
          </a:prstGeom>
          <a:solidFill>
            <a:srgbClr val="97BC62"/>
          </a:solidFill>
          <a:ln w="12700">
            <a:solidFill>
              <a:srgbClr val="97BC62"/>
            </a:solidFill>
            <a:prstDash val="solid"/>
          </a:ln>
        </p:spPr>
      </p:sp>
      <p:sp>
        <p:nvSpPr>
          <p:cNvPr id="12" name="Text 9"/>
          <p:cNvSpPr txBox="1"/>
          <p:nvPr/>
        </p:nvSpPr>
        <p:spPr>
          <a:xfrm>
            <a:off x="5943600" y="2953512"/>
            <a:ext cx="640080" cy="640080"/>
          </a:xfrm>
          <a:prstGeom prst="rect">
            <a:avLst/>
          </a:prstGeom>
          <a:noFill/>
          <a:ln/>
        </p:spPr>
        <p:txBody>
          <a:bodyPr wrap="square" lIns="0" tIns="0" rIns="0" bIns="0" rtlCol="0" anchor="ctr"/>
          <a:lstStyle/>
          <a:p>
            <a:pPr algn="ctr" indent="0" marL="0">
              <a:buNone/>
            </a:pPr>
            <a:r>
              <a:rPr lang="en-US" sz="2800" b="1" dirty="0">
                <a:solidFill>
                  <a:schemeClr val="bg1"/>
                </a:solidFill>
                <a:latin typeface="+mj-lt" pitchFamily="34" charset="0"/>
                <a:ea typeface="+mj-lt" pitchFamily="34" charset="-122"/>
                <a:cs typeface="+mj-lt" pitchFamily="34" charset="-120"/>
              </a:rPr>
              <a:t>3</a:t>
            </a:r>
            <a:endParaRPr lang="en-US" sz="2800" dirty="0"/>
          </a:p>
        </p:txBody>
      </p:sp>
      <p:sp>
        <p:nvSpPr>
          <p:cNvPr id="13" name="Text 10"/>
          <p:cNvSpPr txBox="1"/>
          <p:nvPr/>
        </p:nvSpPr>
        <p:spPr>
          <a:xfrm>
            <a:off x="6812280" y="2907792"/>
            <a:ext cx="4663440" cy="365760"/>
          </a:xfrm>
          <a:prstGeom prst="rect">
            <a:avLst/>
          </a:prstGeom>
          <a:noFill/>
          <a:ln/>
        </p:spPr>
        <p:txBody>
          <a:bodyPr wrap="square" lIns="0" tIns="0" rIns="0" bIns="0" rtlCol="0" anchor="t"/>
          <a:lstStyle/>
          <a:p>
            <a:pPr indent="0" marL="0">
              <a:buNone/>
            </a:pPr>
            <a:r>
              <a:rPr lang="en-US" sz="2000" b="1" dirty="0">
                <a:solidFill>
                  <a:schemeClr val="tx2"/>
                </a:solidFill>
              </a:rPr>
              <a:t>Pre-2025 policy only</a:t>
            </a:r>
            <a:endParaRPr lang="en-US" sz="2000" dirty="0"/>
          </a:p>
        </p:txBody>
      </p:sp>
      <p:sp>
        <p:nvSpPr>
          <p:cNvPr id="14" name="Text 11"/>
          <p:cNvSpPr txBox="1"/>
          <p:nvPr/>
        </p:nvSpPr>
        <p:spPr>
          <a:xfrm>
            <a:off x="6812280" y="3300984"/>
            <a:ext cx="4663440" cy="411480"/>
          </a:xfrm>
          <a:prstGeom prst="rect">
            <a:avLst/>
          </a:prstGeom>
          <a:noFill/>
          <a:ln/>
        </p:spPr>
        <p:txBody>
          <a:bodyPr wrap="square" lIns="0" tIns="0" rIns="0" bIns="0" rtlCol="0" anchor="t"/>
          <a:lstStyle/>
          <a:p>
            <a:pPr indent="0" marL="0">
              <a:buNone/>
            </a:pPr>
            <a:r>
              <a:rPr lang="en-US" sz="1400" dirty="0">
                <a:solidFill>
                  <a:schemeClr val="accent5"/>
                </a:solidFill>
              </a:rPr>
              <a:t>15.3.1, 15.3.3, 15.4.3</a:t>
            </a:r>
            <a:endParaRPr lang="en-US" sz="1400" dirty="0"/>
          </a:p>
        </p:txBody>
      </p:sp>
      <p:sp>
        <p:nvSpPr>
          <p:cNvPr id="15" name="Status card Draft only"/>
          <p:cNvSpPr/>
          <p:nvPr/>
        </p:nvSpPr>
        <p:spPr>
          <a:xfrm>
            <a:off x="5760720" y="3941064"/>
            <a:ext cx="5852160" cy="1005840"/>
          </a:xfrm>
          <a:prstGeom prst="roundRect">
            <a:avLst>
              <a:gd name="adj" fmla="val 10909"/>
            </a:avLst>
          </a:prstGeom>
          <a:solidFill>
            <a:schemeClr val="bg2"/>
          </a:solidFill>
          <a:ln w="12700">
            <a:solidFill>
              <a:schemeClr val="bg2"/>
            </a:solidFill>
            <a:prstDash val="solid"/>
          </a:ln>
        </p:spPr>
      </p:sp>
      <p:sp>
        <p:nvSpPr>
          <p:cNvPr id="16" name="Count chip Draft only"/>
          <p:cNvSpPr/>
          <p:nvPr/>
        </p:nvSpPr>
        <p:spPr>
          <a:xfrm>
            <a:off x="5943600" y="4123944"/>
            <a:ext cx="640080" cy="640080"/>
          </a:xfrm>
          <a:prstGeom prst="roundRect">
            <a:avLst>
              <a:gd name="adj" fmla="val 14286"/>
            </a:avLst>
          </a:prstGeom>
          <a:solidFill>
            <a:srgbClr val="E3B04B"/>
          </a:solidFill>
          <a:ln w="12700">
            <a:solidFill>
              <a:srgbClr val="E3B04B"/>
            </a:solidFill>
            <a:prstDash val="solid"/>
          </a:ln>
        </p:spPr>
      </p:sp>
      <p:sp>
        <p:nvSpPr>
          <p:cNvPr id="17" name="Text 14"/>
          <p:cNvSpPr txBox="1"/>
          <p:nvPr/>
        </p:nvSpPr>
        <p:spPr>
          <a:xfrm>
            <a:off x="5943600" y="4123944"/>
            <a:ext cx="640080" cy="640080"/>
          </a:xfrm>
          <a:prstGeom prst="rect">
            <a:avLst/>
          </a:prstGeom>
          <a:noFill/>
          <a:ln/>
        </p:spPr>
        <p:txBody>
          <a:bodyPr wrap="square" lIns="0" tIns="0" rIns="0" bIns="0" rtlCol="0" anchor="ctr"/>
          <a:lstStyle/>
          <a:p>
            <a:pPr algn="ctr" indent="0" marL="0">
              <a:buNone/>
            </a:pPr>
            <a:r>
              <a:rPr lang="en-US" sz="2800" b="1" dirty="0">
                <a:solidFill>
                  <a:schemeClr val="bg1"/>
                </a:solidFill>
                <a:latin typeface="+mj-lt" pitchFamily="34" charset="0"/>
                <a:ea typeface="+mj-lt" pitchFamily="34" charset="-122"/>
                <a:cs typeface="+mj-lt" pitchFamily="34" charset="-120"/>
              </a:rPr>
              <a:t>1</a:t>
            </a:r>
            <a:endParaRPr lang="en-US" sz="2800" dirty="0"/>
          </a:p>
        </p:txBody>
      </p:sp>
      <p:sp>
        <p:nvSpPr>
          <p:cNvPr id="18" name="Text 15"/>
          <p:cNvSpPr txBox="1"/>
          <p:nvPr/>
        </p:nvSpPr>
        <p:spPr>
          <a:xfrm>
            <a:off x="6812280" y="4078224"/>
            <a:ext cx="4663440" cy="365760"/>
          </a:xfrm>
          <a:prstGeom prst="rect">
            <a:avLst/>
          </a:prstGeom>
          <a:noFill/>
          <a:ln/>
        </p:spPr>
        <p:txBody>
          <a:bodyPr wrap="square" lIns="0" tIns="0" rIns="0" bIns="0" rtlCol="0" anchor="t"/>
          <a:lstStyle/>
          <a:p>
            <a:pPr indent="0" marL="0">
              <a:buNone/>
            </a:pPr>
            <a:r>
              <a:rPr lang="en-US" sz="2000" b="1" dirty="0">
                <a:solidFill>
                  <a:schemeClr val="tx2"/>
                </a:solidFill>
              </a:rPr>
              <a:t>Draft only</a:t>
            </a:r>
            <a:endParaRPr lang="en-US" sz="2000" dirty="0"/>
          </a:p>
        </p:txBody>
      </p:sp>
      <p:sp>
        <p:nvSpPr>
          <p:cNvPr id="19" name="Text 16"/>
          <p:cNvSpPr txBox="1"/>
          <p:nvPr/>
        </p:nvSpPr>
        <p:spPr>
          <a:xfrm>
            <a:off x="6812280" y="4471416"/>
            <a:ext cx="4663440" cy="411480"/>
          </a:xfrm>
          <a:prstGeom prst="rect">
            <a:avLst/>
          </a:prstGeom>
          <a:noFill/>
          <a:ln/>
        </p:spPr>
        <p:txBody>
          <a:bodyPr wrap="square" lIns="0" tIns="0" rIns="0" bIns="0" rtlCol="0" anchor="t"/>
          <a:lstStyle/>
          <a:p>
            <a:pPr indent="0" marL="0">
              <a:buNone/>
            </a:pPr>
            <a:r>
              <a:rPr lang="en-US" sz="1400" dirty="0">
                <a:solidFill>
                  <a:schemeClr val="accent5"/>
                </a:solidFill>
              </a:rPr>
              <a:t>15.2.6: no 2025 programme found</a:t>
            </a:r>
            <a:endParaRPr lang="en-US" sz="1400" dirty="0"/>
          </a:p>
        </p:txBody>
      </p:sp>
      <p:sp>
        <p:nvSpPr>
          <p:cNvPr id="20" name="Status card No evidence yet"/>
          <p:cNvSpPr/>
          <p:nvPr/>
        </p:nvSpPr>
        <p:spPr>
          <a:xfrm>
            <a:off x="5760720" y="5111496"/>
            <a:ext cx="5852160" cy="1005840"/>
          </a:xfrm>
          <a:prstGeom prst="roundRect">
            <a:avLst>
              <a:gd name="adj" fmla="val 10909"/>
            </a:avLst>
          </a:prstGeom>
          <a:solidFill>
            <a:schemeClr val="bg2"/>
          </a:solidFill>
          <a:ln w="12700">
            <a:solidFill>
              <a:schemeClr val="bg2"/>
            </a:solidFill>
            <a:prstDash val="solid"/>
          </a:ln>
        </p:spPr>
      </p:sp>
      <p:sp>
        <p:nvSpPr>
          <p:cNvPr id="21" name="Count chip No evidence yet"/>
          <p:cNvSpPr/>
          <p:nvPr/>
        </p:nvSpPr>
        <p:spPr>
          <a:xfrm>
            <a:off x="5943600" y="5294376"/>
            <a:ext cx="640080" cy="640080"/>
          </a:xfrm>
          <a:prstGeom prst="roundRect">
            <a:avLst>
              <a:gd name="adj" fmla="val 14286"/>
            </a:avLst>
          </a:prstGeom>
          <a:solidFill>
            <a:srgbClr val="B45309"/>
          </a:solidFill>
          <a:ln w="12700">
            <a:solidFill>
              <a:srgbClr val="B45309"/>
            </a:solidFill>
            <a:prstDash val="solid"/>
          </a:ln>
        </p:spPr>
      </p:sp>
      <p:sp>
        <p:nvSpPr>
          <p:cNvPr id="22" name="Text 19"/>
          <p:cNvSpPr txBox="1"/>
          <p:nvPr/>
        </p:nvSpPr>
        <p:spPr>
          <a:xfrm>
            <a:off x="5943600" y="5294376"/>
            <a:ext cx="640080" cy="640080"/>
          </a:xfrm>
          <a:prstGeom prst="rect">
            <a:avLst/>
          </a:prstGeom>
          <a:noFill/>
          <a:ln/>
        </p:spPr>
        <p:txBody>
          <a:bodyPr wrap="square" lIns="0" tIns="0" rIns="0" bIns="0" rtlCol="0" anchor="ctr"/>
          <a:lstStyle/>
          <a:p>
            <a:pPr algn="ctr" indent="0" marL="0">
              <a:buNone/>
            </a:pPr>
            <a:r>
              <a:rPr lang="en-US" sz="2800" b="1" dirty="0">
                <a:solidFill>
                  <a:schemeClr val="bg1"/>
                </a:solidFill>
                <a:latin typeface="+mj-lt" pitchFamily="34" charset="0"/>
                <a:ea typeface="+mj-lt" pitchFamily="34" charset="-122"/>
                <a:cs typeface="+mj-lt" pitchFamily="34" charset="-120"/>
              </a:rPr>
              <a:t>3</a:t>
            </a:r>
            <a:endParaRPr lang="en-US" sz="2800" dirty="0"/>
          </a:p>
        </p:txBody>
      </p:sp>
      <p:sp>
        <p:nvSpPr>
          <p:cNvPr id="23" name="Text 20"/>
          <p:cNvSpPr txBox="1"/>
          <p:nvPr/>
        </p:nvSpPr>
        <p:spPr>
          <a:xfrm>
            <a:off x="6812280" y="5248656"/>
            <a:ext cx="4663440" cy="365760"/>
          </a:xfrm>
          <a:prstGeom prst="rect">
            <a:avLst/>
          </a:prstGeom>
          <a:noFill/>
          <a:ln/>
        </p:spPr>
        <p:txBody>
          <a:bodyPr wrap="square" lIns="0" tIns="0" rIns="0" bIns="0" rtlCol="0" anchor="t"/>
          <a:lstStyle/>
          <a:p>
            <a:pPr indent="0" marL="0">
              <a:buNone/>
            </a:pPr>
            <a:r>
              <a:rPr lang="en-US" sz="2000" b="1" dirty="0">
                <a:solidFill>
                  <a:schemeClr val="tx2"/>
                </a:solidFill>
              </a:rPr>
              <a:t>No evidence yet</a:t>
            </a:r>
            <a:endParaRPr lang="en-US" sz="2000" dirty="0"/>
          </a:p>
        </p:txBody>
      </p:sp>
      <p:sp>
        <p:nvSpPr>
          <p:cNvPr id="24" name="Text 21"/>
          <p:cNvSpPr txBox="1"/>
          <p:nvPr/>
        </p:nvSpPr>
        <p:spPr>
          <a:xfrm>
            <a:off x="6812280" y="5641848"/>
            <a:ext cx="4663440" cy="411480"/>
          </a:xfrm>
          <a:prstGeom prst="rect">
            <a:avLst/>
          </a:prstGeom>
          <a:noFill/>
          <a:ln/>
        </p:spPr>
        <p:txBody>
          <a:bodyPr wrap="square" lIns="0" tIns="0" rIns="0" bIns="0" rtlCol="0" anchor="t"/>
          <a:lstStyle/>
          <a:p>
            <a:pPr indent="0" marL="0">
              <a:buNone/>
            </a:pPr>
            <a:r>
              <a:rPr lang="en-US" sz="1400" dirty="0">
                <a:solidFill>
                  <a:schemeClr val="accent5"/>
                </a:solidFill>
              </a:rPr>
              <a:t>15.2.2, 15.3.2, 15.3.4</a:t>
            </a:r>
            <a:endParaRPr lang="en-US" sz="14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lIns="0" tIns="0" rIns="0" bIns="0" rtlCol="0" anchor="ctr"/>
          <a:lstStyle/>
          <a:p>
            <a:pPr algn="l" indent="0" marL="0">
              <a:buNone/>
            </a:pPr>
            <a:r>
              <a:rPr lang="en-US" sz="3400" b="1" dirty="0">
                <a:solidFill>
                  <a:schemeClr val="tx2"/>
                </a:solidFill>
              </a:rPr>
              <a:t>The package lists 2025 first, then what continues</a:t>
            </a:r>
            <a:endParaRPr lang="en-US" sz="3400" dirty="0"/>
          </a:p>
        </p:txBody>
      </p:sp>
      <p:sp>
        <p:nvSpPr>
          <p:cNvPr id="3" name="Tier 1 card"/>
          <p:cNvSpPr/>
          <p:nvPr/>
        </p:nvSpPr>
        <p:spPr>
          <a:xfrm>
            <a:off x="548640" y="1508760"/>
            <a:ext cx="5212080" cy="1737360"/>
          </a:xfrm>
          <a:prstGeom prst="roundRect">
            <a:avLst>
              <a:gd name="adj" fmla="val 6316"/>
            </a:avLst>
          </a:prstGeom>
          <a:solidFill>
            <a:schemeClr val="accent1"/>
          </a:solidFill>
          <a:ln w="12700">
            <a:solidFill>
              <a:schemeClr val="accent1"/>
            </a:solidFill>
            <a:prstDash val="solid"/>
          </a:ln>
        </p:spPr>
      </p:sp>
      <p:sp>
        <p:nvSpPr>
          <p:cNvPr id="4" name="Text 2"/>
          <p:cNvSpPr txBox="1"/>
          <p:nvPr/>
        </p:nvSpPr>
        <p:spPr>
          <a:xfrm>
            <a:off x="822960" y="1691640"/>
            <a:ext cx="4663440" cy="457200"/>
          </a:xfrm>
          <a:prstGeom prst="rect">
            <a:avLst/>
          </a:prstGeom>
          <a:noFill/>
          <a:ln/>
        </p:spPr>
        <p:txBody>
          <a:bodyPr wrap="square" lIns="0" tIns="0" rIns="0" bIns="0" rtlCol="0" anchor="t"/>
          <a:lstStyle/>
          <a:p>
            <a:pPr indent="0" marL="0">
              <a:buNone/>
            </a:pPr>
            <a:r>
              <a:rPr lang="en-US" sz="2400" b="1" dirty="0">
                <a:solidFill>
                  <a:schemeClr val="bg1"/>
                </a:solidFill>
                <a:latin typeface="+mj-lt" pitchFamily="34" charset="0"/>
                <a:ea typeface="+mj-lt" pitchFamily="34" charset="-122"/>
                <a:cs typeface="+mj-lt" pitchFamily="34" charset="-120"/>
              </a:rPr>
              <a:t>1  Evidence from 2025</a:t>
            </a:r>
            <a:endParaRPr lang="en-US" sz="2400" dirty="0"/>
          </a:p>
        </p:txBody>
      </p:sp>
      <p:sp>
        <p:nvSpPr>
          <p:cNvPr id="5" name="Text 3"/>
          <p:cNvSpPr txBox="1"/>
          <p:nvPr/>
        </p:nvSpPr>
        <p:spPr>
          <a:xfrm>
            <a:off x="822960" y="2286000"/>
            <a:ext cx="4663440" cy="731520"/>
          </a:xfrm>
          <a:prstGeom prst="rect">
            <a:avLst/>
          </a:prstGeom>
          <a:noFill/>
          <a:ln/>
        </p:spPr>
        <p:txBody>
          <a:bodyPr wrap="square" lIns="0" tIns="0" rIns="0" bIns="0" rtlCol="0" anchor="t"/>
          <a:lstStyle/>
          <a:p>
            <a:pPr indent="0" marL="0">
              <a:buNone/>
            </a:pPr>
            <a:r>
              <a:rPr lang="en-US" sz="1800" dirty="0">
                <a:solidFill>
                  <a:schemeClr val="bg1"/>
                </a:solidFill>
              </a:rPr>
              <a:t>Dated activities with photos, figures and sources.</a:t>
            </a:r>
            <a:endParaRPr lang="en-US" sz="1800" dirty="0"/>
          </a:p>
        </p:txBody>
      </p:sp>
      <p:sp>
        <p:nvSpPr>
          <p:cNvPr id="6" name="Arrow down"/>
          <p:cNvSpPr/>
          <p:nvPr/>
        </p:nvSpPr>
        <p:spPr>
          <a:xfrm>
            <a:off x="2834640" y="3337560"/>
            <a:ext cx="640080" cy="502920"/>
          </a:xfrm>
          <a:prstGeom prst="downArrow">
            <a:avLst/>
          </a:prstGeom>
          <a:solidFill>
            <a:schemeClr val="accent4"/>
          </a:solidFill>
          <a:ln w="12700">
            <a:solidFill>
              <a:schemeClr val="accent4"/>
            </a:solidFill>
            <a:prstDash val="solid"/>
          </a:ln>
        </p:spPr>
      </p:sp>
      <p:sp>
        <p:nvSpPr>
          <p:cNvPr id="7" name="Tier 2 card"/>
          <p:cNvSpPr/>
          <p:nvPr/>
        </p:nvSpPr>
        <p:spPr>
          <a:xfrm>
            <a:off x="548640" y="3931920"/>
            <a:ext cx="5212080" cy="1737360"/>
          </a:xfrm>
          <a:prstGeom prst="roundRect">
            <a:avLst>
              <a:gd name="adj" fmla="val 6316"/>
            </a:avLst>
          </a:prstGeom>
          <a:solidFill>
            <a:schemeClr val="tx2"/>
          </a:solidFill>
          <a:ln w="12700">
            <a:solidFill>
              <a:schemeClr val="tx2"/>
            </a:solidFill>
            <a:prstDash val="solid"/>
          </a:ln>
        </p:spPr>
      </p:sp>
      <p:sp>
        <p:nvSpPr>
          <p:cNvPr id="8" name="Text 6"/>
          <p:cNvSpPr txBox="1"/>
          <p:nvPr/>
        </p:nvSpPr>
        <p:spPr>
          <a:xfrm>
            <a:off x="822960" y="4114800"/>
            <a:ext cx="4663440" cy="457200"/>
          </a:xfrm>
          <a:prstGeom prst="rect">
            <a:avLst/>
          </a:prstGeom>
          <a:noFill/>
          <a:ln/>
        </p:spPr>
        <p:txBody>
          <a:bodyPr wrap="square" lIns="0" tIns="0" rIns="0" bIns="0" rtlCol="0" anchor="t"/>
          <a:lstStyle/>
          <a:p>
            <a:pPr indent="0" marL="0">
              <a:buNone/>
            </a:pPr>
            <a:r>
              <a:rPr lang="en-US" sz="2400" b="1" dirty="0">
                <a:solidFill>
                  <a:schemeClr val="bg1"/>
                </a:solidFill>
                <a:latin typeface="+mj-lt" pitchFamily="34" charset="0"/>
                <a:ea typeface="+mj-lt" pitchFamily="34" charset="-122"/>
                <a:cs typeface="+mj-lt" pitchFamily="34" charset="-120"/>
              </a:rPr>
              <a:t>2  Continuing implementation</a:t>
            </a:r>
            <a:endParaRPr lang="en-US" sz="2400" dirty="0"/>
          </a:p>
        </p:txBody>
      </p:sp>
      <p:sp>
        <p:nvSpPr>
          <p:cNvPr id="9" name="Text 7"/>
          <p:cNvSpPr txBox="1"/>
          <p:nvPr/>
        </p:nvSpPr>
        <p:spPr>
          <a:xfrm>
            <a:off x="822960" y="4709160"/>
            <a:ext cx="4663440" cy="822960"/>
          </a:xfrm>
          <a:prstGeom prst="rect">
            <a:avLst/>
          </a:prstGeom>
          <a:noFill/>
          <a:ln/>
        </p:spPr>
        <p:txBody>
          <a:bodyPr wrap="square" lIns="0" tIns="0" rIns="0" bIns="0" rtlCol="0" anchor="t"/>
          <a:lstStyle/>
          <a:p>
            <a:pPr indent="0" marL="0">
              <a:buNone/>
            </a:pPr>
            <a:r>
              <a:rPr lang="en-US" sz="1800" dirty="0">
                <a:solidFill>
                  <a:schemeClr val="bg1"/>
                </a:solidFill>
              </a:rPr>
              <a:t>Policies still in force and 2024 to 2026 activity that shows the work is ongoing.</a:t>
            </a:r>
            <a:endParaRPr lang="en-US" sz="1800" dirty="0"/>
          </a:p>
        </p:txBody>
      </p:sp>
      <p:sp>
        <p:nvSpPr>
          <p:cNvPr id="10" name="11 indicator PDFs badge"/>
          <p:cNvSpPr/>
          <p:nvPr/>
        </p:nvSpPr>
        <p:spPr>
          <a:xfrm>
            <a:off x="6309360" y="1508760"/>
            <a:ext cx="822960" cy="822960"/>
          </a:xfrm>
          <a:prstGeom prst="ellipse">
            <a:avLst/>
          </a:prstGeom>
          <a:solidFill>
            <a:schemeClr val="accent1"/>
          </a:solidFill>
          <a:ln w="12700">
            <a:solidFill>
              <a:schemeClr val="accent1"/>
            </a:solidFill>
            <a:prstDash val="solid"/>
          </a:ln>
        </p:spPr>
      </p:sp>
      <p:pic>
        <p:nvPicPr>
          <p:cNvPr id="11" name="11 indicator PDFs icon" descr="11 indicator PDFs">    </p:cNvPr>
          <p:cNvPicPr>
            <a:picLocks noChangeAspect="1"/>
          </p:cNvPicPr>
          <p:nvPr/>
        </p:nvPicPr>
        <p:blipFill>
          <a:blip r:embed="rId1"/>
          <a:stretch>
            <a:fillRect/>
          </a:stretch>
        </p:blipFill>
        <p:spPr>
          <a:xfrm>
            <a:off x="6523330" y="1722730"/>
            <a:ext cx="395021" cy="395021"/>
          </a:xfrm>
          <a:prstGeom prst="rect">
            <a:avLst/>
          </a:prstGeom>
        </p:spPr>
      </p:pic>
      <p:sp>
        <p:nvSpPr>
          <p:cNvPr id="12" name="Text 9"/>
          <p:cNvSpPr txBox="1"/>
          <p:nvPr/>
        </p:nvSpPr>
        <p:spPr>
          <a:xfrm>
            <a:off x="7360920" y="1527048"/>
            <a:ext cx="4297680" cy="411480"/>
          </a:xfrm>
          <a:prstGeom prst="rect">
            <a:avLst/>
          </a:prstGeom>
          <a:noFill/>
          <a:ln/>
        </p:spPr>
        <p:txBody>
          <a:bodyPr wrap="square" lIns="0" tIns="0" rIns="0" bIns="0" rtlCol="0" anchor="t"/>
          <a:lstStyle/>
          <a:p>
            <a:pPr indent="0" marL="0">
              <a:buNone/>
            </a:pPr>
            <a:r>
              <a:rPr lang="en-US" sz="2200" b="1" dirty="0">
                <a:solidFill>
                  <a:schemeClr val="tx2"/>
                </a:solidFill>
              </a:rPr>
              <a:t>11 indicator PDFs</a:t>
            </a:r>
            <a:endParaRPr lang="en-US" sz="2200" dirty="0"/>
          </a:p>
        </p:txBody>
      </p:sp>
      <p:sp>
        <p:nvSpPr>
          <p:cNvPr id="13" name="Text 10"/>
          <p:cNvSpPr txBox="1"/>
          <p:nvPr/>
        </p:nvSpPr>
        <p:spPr>
          <a:xfrm>
            <a:off x="7360920" y="1965960"/>
            <a:ext cx="4297680" cy="822960"/>
          </a:xfrm>
          <a:prstGeom prst="rect">
            <a:avLst/>
          </a:prstGeom>
          <a:noFill/>
          <a:ln/>
        </p:spPr>
        <p:txBody>
          <a:bodyPr wrap="square" lIns="0" tIns="0" rIns="0" bIns="0" rtlCol="0" anchor="t"/>
          <a:lstStyle/>
          <a:p>
            <a:pPr indent="0" marL="0">
              <a:buNone/>
            </a:pPr>
            <a:r>
              <a:rPr lang="en-US" sz="1600" dirty="0">
                <a:solidFill>
                  <a:schemeClr val="tx1"/>
                </a:solidFill>
              </a:rPr>
              <a:t>One per indicator, written to stand alone. 15.2.6 is marked as a draft.</a:t>
            </a:r>
            <a:endParaRPr lang="en-US" sz="1600" dirty="0"/>
          </a:p>
        </p:txBody>
      </p:sp>
      <p:sp>
        <p:nvSpPr>
          <p:cNvPr id="14" name="46-page Word compendium badge"/>
          <p:cNvSpPr/>
          <p:nvPr/>
        </p:nvSpPr>
        <p:spPr>
          <a:xfrm>
            <a:off x="6309360" y="3063240"/>
            <a:ext cx="822960" cy="822960"/>
          </a:xfrm>
          <a:prstGeom prst="ellipse">
            <a:avLst/>
          </a:prstGeom>
          <a:solidFill>
            <a:schemeClr val="accent1"/>
          </a:solidFill>
          <a:ln w="12700">
            <a:solidFill>
              <a:schemeClr val="accent1"/>
            </a:solidFill>
            <a:prstDash val="solid"/>
          </a:ln>
        </p:spPr>
      </p:sp>
      <p:pic>
        <p:nvPicPr>
          <p:cNvPr id="15" name="46-page Word compendium icon" descr="46-page Word compendium">    </p:cNvPr>
          <p:cNvPicPr>
            <a:picLocks noChangeAspect="1"/>
          </p:cNvPicPr>
          <p:nvPr/>
        </p:nvPicPr>
        <p:blipFill>
          <a:blip r:embed="rId2"/>
          <a:stretch>
            <a:fillRect/>
          </a:stretch>
        </p:blipFill>
        <p:spPr>
          <a:xfrm>
            <a:off x="6523330" y="3277210"/>
            <a:ext cx="395021" cy="395021"/>
          </a:xfrm>
          <a:prstGeom prst="rect">
            <a:avLst/>
          </a:prstGeom>
        </p:spPr>
      </p:pic>
      <p:sp>
        <p:nvSpPr>
          <p:cNvPr id="16" name="Text 12"/>
          <p:cNvSpPr txBox="1"/>
          <p:nvPr/>
        </p:nvSpPr>
        <p:spPr>
          <a:xfrm>
            <a:off x="7360920" y="3081528"/>
            <a:ext cx="4297680" cy="411480"/>
          </a:xfrm>
          <a:prstGeom prst="rect">
            <a:avLst/>
          </a:prstGeom>
          <a:noFill/>
          <a:ln/>
        </p:spPr>
        <p:txBody>
          <a:bodyPr wrap="square" lIns="0" tIns="0" rIns="0" bIns="0" rtlCol="0" anchor="t"/>
          <a:lstStyle/>
          <a:p>
            <a:pPr indent="0" marL="0">
              <a:buNone/>
            </a:pPr>
            <a:r>
              <a:rPr lang="en-US" sz="2200" b="1" dirty="0">
                <a:solidFill>
                  <a:schemeClr val="tx2"/>
                </a:solidFill>
              </a:rPr>
              <a:t>46-page Word compendium</a:t>
            </a:r>
            <a:endParaRPr lang="en-US" sz="2200" dirty="0"/>
          </a:p>
        </p:txBody>
      </p:sp>
      <p:sp>
        <p:nvSpPr>
          <p:cNvPr id="17" name="Text 13"/>
          <p:cNvSpPr txBox="1"/>
          <p:nvPr/>
        </p:nvSpPr>
        <p:spPr>
          <a:xfrm>
            <a:off x="7360920" y="3520440"/>
            <a:ext cx="4297680" cy="822960"/>
          </a:xfrm>
          <a:prstGeom prst="rect">
            <a:avLst/>
          </a:prstGeom>
          <a:noFill/>
          <a:ln/>
        </p:spPr>
        <p:txBody>
          <a:bodyPr wrap="square" lIns="0" tIns="0" rIns="0" bIns="0" rtlCol="0" anchor="t"/>
          <a:lstStyle/>
          <a:p>
            <a:pPr indent="0" marL="0">
              <a:buNone/>
            </a:pPr>
            <a:r>
              <a:rPr lang="en-US" sz="1600" dirty="0">
                <a:solidFill>
                  <a:schemeClr val="tx1"/>
                </a:solidFill>
              </a:rPr>
              <a:t>Editable version with every photo and source, for the team to revise.</a:t>
            </a:r>
            <a:endParaRPr lang="en-US" sz="1600" dirty="0"/>
          </a:p>
        </p:txBody>
      </p:sp>
      <p:sp>
        <p:nvSpPr>
          <p:cNvPr id="18" name="Checklist badge"/>
          <p:cNvSpPr/>
          <p:nvPr/>
        </p:nvSpPr>
        <p:spPr>
          <a:xfrm>
            <a:off x="6309360" y="4617720"/>
            <a:ext cx="822960" cy="822960"/>
          </a:xfrm>
          <a:prstGeom prst="ellipse">
            <a:avLst/>
          </a:prstGeom>
          <a:solidFill>
            <a:schemeClr val="accent1"/>
          </a:solidFill>
          <a:ln w="12700">
            <a:solidFill>
              <a:schemeClr val="accent1"/>
            </a:solidFill>
            <a:prstDash val="solid"/>
          </a:ln>
        </p:spPr>
      </p:sp>
      <p:pic>
        <p:nvPicPr>
          <p:cNvPr id="19" name="Checklist icon" descr="Checklist">    </p:cNvPr>
          <p:cNvPicPr>
            <a:picLocks noChangeAspect="1"/>
          </p:cNvPicPr>
          <p:nvPr/>
        </p:nvPicPr>
        <p:blipFill>
          <a:blip r:embed="rId3"/>
          <a:stretch>
            <a:fillRect/>
          </a:stretch>
        </p:blipFill>
        <p:spPr>
          <a:xfrm>
            <a:off x="6523330" y="4831690"/>
            <a:ext cx="395021" cy="395021"/>
          </a:xfrm>
          <a:prstGeom prst="rect">
            <a:avLst/>
          </a:prstGeom>
        </p:spPr>
      </p:pic>
      <p:sp>
        <p:nvSpPr>
          <p:cNvPr id="20" name="Text 15"/>
          <p:cNvSpPr txBox="1"/>
          <p:nvPr/>
        </p:nvSpPr>
        <p:spPr>
          <a:xfrm>
            <a:off x="7360920" y="4636008"/>
            <a:ext cx="4297680" cy="411480"/>
          </a:xfrm>
          <a:prstGeom prst="rect">
            <a:avLst/>
          </a:prstGeom>
          <a:noFill/>
          <a:ln/>
        </p:spPr>
        <p:txBody>
          <a:bodyPr wrap="square" lIns="0" tIns="0" rIns="0" bIns="0" rtlCol="0" anchor="t"/>
          <a:lstStyle/>
          <a:p>
            <a:pPr indent="0" marL="0">
              <a:buNone/>
            </a:pPr>
            <a:r>
              <a:rPr lang="en-US" sz="2200" b="1" dirty="0">
                <a:solidFill>
                  <a:schemeClr val="tx2"/>
                </a:solidFill>
              </a:rPr>
              <a:t>Checklist</a:t>
            </a:r>
            <a:endParaRPr lang="en-US" sz="2200" dirty="0"/>
          </a:p>
        </p:txBody>
      </p:sp>
      <p:sp>
        <p:nvSpPr>
          <p:cNvPr id="21" name="Text 16"/>
          <p:cNvSpPr txBox="1"/>
          <p:nvPr/>
        </p:nvSpPr>
        <p:spPr>
          <a:xfrm>
            <a:off x="7360920" y="5074920"/>
            <a:ext cx="4297680" cy="822960"/>
          </a:xfrm>
          <a:prstGeom prst="rect">
            <a:avLst/>
          </a:prstGeom>
          <a:noFill/>
          <a:ln/>
        </p:spPr>
        <p:txBody>
          <a:bodyPr wrap="square" lIns="0" tIns="0" rIns="0" bIns="0" rtlCol="0" anchor="t"/>
          <a:lstStyle/>
          <a:p>
            <a:pPr indent="0" marL="0">
              <a:buNone/>
            </a:pPr>
            <a:r>
              <a:rPr lang="en-US" sz="1600" dirty="0">
                <a:solidFill>
                  <a:schemeClr val="tx1"/>
                </a:solidFill>
              </a:rPr>
              <a:t>Facts to confirm before upload, and what each missing item would earn.</a:t>
            </a:r>
            <a:endParaRPr lang="en-US" sz="16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lIns="0" tIns="0" rIns="0" bIns="0" rtlCol="0" anchor="ctr"/>
          <a:lstStyle/>
          <a:p>
            <a:pPr algn="l" indent="0" marL="0">
              <a:buNone/>
            </a:pPr>
            <a:r>
              <a:rPr lang="en-US" sz="3400" b="1" dirty="0">
                <a:solidFill>
                  <a:schemeClr val="tx2"/>
                </a:solidFill>
              </a:rPr>
              <a:t>What we can already show from 2025</a:t>
            </a:r>
            <a:endParaRPr lang="en-US" sz="3400" dirty="0"/>
          </a:p>
        </p:txBody>
      </p:sp>
      <p:pic>
        <p:nvPicPr>
          <p:cNvPr id="3" name="Photo 250 seedlings and propagules" descr="CAFSD graduands plant native trees and bamboo in the University Forest Reserves, 2 July 2025">    </p:cNvPr>
          <p:cNvPicPr>
            <a:picLocks noChangeAspect="1"/>
          </p:cNvPicPr>
          <p:nvPr/>
        </p:nvPicPr>
        <p:blipFill>
          <a:blip r:embed="rId1"/>
          <a:srcRect l="0" r="0" t="0" b="0"/>
          <a:stretch/>
        </p:blipFill>
        <p:spPr>
          <a:xfrm>
            <a:off x="548640" y="1463040"/>
            <a:ext cx="3520440" cy="2377440"/>
          </a:xfrm>
          <a:prstGeom prst="rect">
            <a:avLst/>
          </a:prstGeom>
        </p:spPr>
      </p:pic>
      <p:sp>
        <p:nvSpPr>
          <p:cNvPr id="4" name="Text 1"/>
          <p:cNvSpPr txBox="1"/>
          <p:nvPr/>
        </p:nvSpPr>
        <p:spPr>
          <a:xfrm>
            <a:off x="548640" y="3950208"/>
            <a:ext cx="3520440" cy="457200"/>
          </a:xfrm>
          <a:prstGeom prst="rect">
            <a:avLst/>
          </a:prstGeom>
          <a:noFill/>
          <a:ln/>
        </p:spPr>
        <p:txBody>
          <a:bodyPr wrap="square" lIns="0" tIns="0" rIns="0" bIns="0" rtlCol="0" anchor="t"/>
          <a:lstStyle/>
          <a:p>
            <a:pPr indent="0" marL="0">
              <a:buNone/>
            </a:pPr>
            <a:r>
              <a:rPr lang="en-US" sz="2200" b="1" dirty="0">
                <a:solidFill>
                  <a:schemeClr val="accent4"/>
                </a:solidFill>
              </a:rPr>
              <a:t>250 seedlings and propagules</a:t>
            </a:r>
            <a:endParaRPr lang="en-US" sz="2200" dirty="0"/>
          </a:p>
        </p:txBody>
      </p:sp>
      <p:sp>
        <p:nvSpPr>
          <p:cNvPr id="5" name="Text 2"/>
          <p:cNvSpPr txBox="1"/>
          <p:nvPr/>
        </p:nvSpPr>
        <p:spPr>
          <a:xfrm>
            <a:off x="548640" y="4434840"/>
            <a:ext cx="3520440" cy="822960"/>
          </a:xfrm>
          <a:prstGeom prst="rect">
            <a:avLst/>
          </a:prstGeom>
          <a:noFill/>
          <a:ln/>
        </p:spPr>
        <p:txBody>
          <a:bodyPr wrap="square" lIns="0" tIns="0" rIns="0" bIns="0" rtlCol="0" anchor="t"/>
          <a:lstStyle/>
          <a:p>
            <a:pPr indent="0" marL="0">
              <a:buNone/>
            </a:pPr>
            <a:r>
              <a:rPr lang="en-US" sz="1400" dirty="0">
                <a:solidFill>
                  <a:schemeClr val="tx1"/>
                </a:solidFill>
              </a:rPr>
              <a:t>CAFSD graduands plant native trees and bamboo in the University Forest Reserves, 2 July 2025</a:t>
            </a:r>
            <a:endParaRPr lang="en-US" sz="1400" dirty="0"/>
          </a:p>
        </p:txBody>
      </p:sp>
      <p:pic>
        <p:nvPicPr>
          <p:cNvPr id="6" name="Photo 1,750 mangrove propagules" descr="Agreement with TMP Foundation, DENR and LGU-Pasuquin signed 29 November 2025">    </p:cNvPr>
          <p:cNvPicPr>
            <a:picLocks noChangeAspect="1"/>
          </p:cNvPicPr>
          <p:nvPr/>
        </p:nvPicPr>
        <p:blipFill>
          <a:blip r:embed="rId2"/>
          <a:srcRect l="0" r="0" t="0" b="0"/>
          <a:stretch/>
        </p:blipFill>
        <p:spPr>
          <a:xfrm>
            <a:off x="4343400" y="1463040"/>
            <a:ext cx="3520440" cy="2377440"/>
          </a:xfrm>
          <a:prstGeom prst="rect">
            <a:avLst/>
          </a:prstGeom>
        </p:spPr>
      </p:pic>
      <p:sp>
        <p:nvSpPr>
          <p:cNvPr id="7" name="Text 3"/>
          <p:cNvSpPr txBox="1"/>
          <p:nvPr/>
        </p:nvSpPr>
        <p:spPr>
          <a:xfrm>
            <a:off x="4343400" y="3950208"/>
            <a:ext cx="3520440" cy="457200"/>
          </a:xfrm>
          <a:prstGeom prst="rect">
            <a:avLst/>
          </a:prstGeom>
          <a:noFill/>
          <a:ln/>
        </p:spPr>
        <p:txBody>
          <a:bodyPr wrap="square" lIns="0" tIns="0" rIns="0" bIns="0" rtlCol="0" anchor="t"/>
          <a:lstStyle/>
          <a:p>
            <a:pPr indent="0" marL="0">
              <a:buNone/>
            </a:pPr>
            <a:r>
              <a:rPr lang="en-US" sz="2200" b="1" dirty="0">
                <a:solidFill>
                  <a:schemeClr val="accent4"/>
                </a:solidFill>
              </a:rPr>
              <a:t>1,750 mangrove propagules</a:t>
            </a:r>
            <a:endParaRPr lang="en-US" sz="2200" dirty="0"/>
          </a:p>
        </p:txBody>
      </p:sp>
      <p:sp>
        <p:nvSpPr>
          <p:cNvPr id="8" name="Text 4"/>
          <p:cNvSpPr txBox="1"/>
          <p:nvPr/>
        </p:nvSpPr>
        <p:spPr>
          <a:xfrm>
            <a:off x="4343400" y="4434840"/>
            <a:ext cx="3520440" cy="822960"/>
          </a:xfrm>
          <a:prstGeom prst="rect">
            <a:avLst/>
          </a:prstGeom>
          <a:noFill/>
          <a:ln/>
        </p:spPr>
        <p:txBody>
          <a:bodyPr wrap="square" lIns="0" tIns="0" rIns="0" bIns="0" rtlCol="0" anchor="t"/>
          <a:lstStyle/>
          <a:p>
            <a:pPr indent="0" marL="0">
              <a:buNone/>
            </a:pPr>
            <a:r>
              <a:rPr lang="en-US" sz="1400" dirty="0">
                <a:solidFill>
                  <a:schemeClr val="tx1"/>
                </a:solidFill>
              </a:rPr>
              <a:t>Agreement with TMP Foundation, DENR and LGU-Pasuquin signed 29 November 2025</a:t>
            </a:r>
            <a:endParaRPr lang="en-US" sz="1400" dirty="0"/>
          </a:p>
        </p:txBody>
      </p:sp>
      <p:pic>
        <p:nvPicPr>
          <p:cNvPr id="9" name="Photo 4 municipalities trained" descr="Mangrove propagation seminar for Currimao, Pasuquin, Badoc and Burgos, 27 to 28 October 2025">    </p:cNvPr>
          <p:cNvPicPr>
            <a:picLocks noChangeAspect="1"/>
          </p:cNvPicPr>
          <p:nvPr/>
        </p:nvPicPr>
        <p:blipFill>
          <a:blip r:embed="rId3"/>
          <a:srcRect l="0" r="0" t="0" b="0"/>
          <a:stretch/>
        </p:blipFill>
        <p:spPr>
          <a:xfrm>
            <a:off x="8138160" y="1463040"/>
            <a:ext cx="3520440" cy="2377440"/>
          </a:xfrm>
          <a:prstGeom prst="rect">
            <a:avLst/>
          </a:prstGeom>
        </p:spPr>
      </p:pic>
      <p:sp>
        <p:nvSpPr>
          <p:cNvPr id="10" name="Text 5"/>
          <p:cNvSpPr txBox="1"/>
          <p:nvPr/>
        </p:nvSpPr>
        <p:spPr>
          <a:xfrm>
            <a:off x="8138160" y="3950208"/>
            <a:ext cx="3520440" cy="457200"/>
          </a:xfrm>
          <a:prstGeom prst="rect">
            <a:avLst/>
          </a:prstGeom>
          <a:noFill/>
          <a:ln/>
        </p:spPr>
        <p:txBody>
          <a:bodyPr wrap="square" lIns="0" tIns="0" rIns="0" bIns="0" rtlCol="0" anchor="t"/>
          <a:lstStyle/>
          <a:p>
            <a:pPr indent="0" marL="0">
              <a:buNone/>
            </a:pPr>
            <a:r>
              <a:rPr lang="en-US" sz="2200" b="1" dirty="0">
                <a:solidFill>
                  <a:schemeClr val="accent4"/>
                </a:solidFill>
              </a:rPr>
              <a:t>4 municipalities trained</a:t>
            </a:r>
            <a:endParaRPr lang="en-US" sz="2200" dirty="0"/>
          </a:p>
        </p:txBody>
      </p:sp>
      <p:sp>
        <p:nvSpPr>
          <p:cNvPr id="11" name="Text 6"/>
          <p:cNvSpPr txBox="1"/>
          <p:nvPr/>
        </p:nvSpPr>
        <p:spPr>
          <a:xfrm>
            <a:off x="8138160" y="4434840"/>
            <a:ext cx="3520440" cy="822960"/>
          </a:xfrm>
          <a:prstGeom prst="rect">
            <a:avLst/>
          </a:prstGeom>
          <a:noFill/>
          <a:ln/>
        </p:spPr>
        <p:txBody>
          <a:bodyPr wrap="square" lIns="0" tIns="0" rIns="0" bIns="0" rtlCol="0" anchor="t"/>
          <a:lstStyle/>
          <a:p>
            <a:pPr indent="0" marL="0">
              <a:buNone/>
            </a:pPr>
            <a:r>
              <a:rPr lang="en-US" sz="1400" dirty="0">
                <a:solidFill>
                  <a:schemeClr val="tx1"/>
                </a:solidFill>
              </a:rPr>
              <a:t>Mangrove propagation seminar for Currimao, Pasuquin, Badoc and Burgos, 27 to 28 October 2025</a:t>
            </a:r>
            <a:endParaRPr lang="en-US" sz="1400" dirty="0"/>
          </a:p>
        </p:txBody>
      </p:sp>
      <p:sp>
        <p:nvSpPr>
          <p:cNvPr id="12" name="Also strip"/>
          <p:cNvSpPr/>
          <p:nvPr/>
        </p:nvSpPr>
        <p:spPr>
          <a:xfrm>
            <a:off x="548640" y="5440680"/>
            <a:ext cx="11064240" cy="731520"/>
          </a:xfrm>
          <a:prstGeom prst="roundRect">
            <a:avLst>
              <a:gd name="adj" fmla="val 15000"/>
            </a:avLst>
          </a:prstGeom>
          <a:solidFill>
            <a:schemeClr val="bg2"/>
          </a:solidFill>
          <a:ln w="12700">
            <a:solidFill>
              <a:schemeClr val="bg2"/>
            </a:solidFill>
            <a:prstDash val="solid"/>
          </a:ln>
        </p:spPr>
      </p:sp>
      <p:sp>
        <p:nvSpPr>
          <p:cNvPr id="13" name="Text 8"/>
          <p:cNvSpPr txBox="1"/>
          <p:nvPr/>
        </p:nvSpPr>
        <p:spPr>
          <a:xfrm>
            <a:off x="777240" y="5532120"/>
            <a:ext cx="10607040" cy="548640"/>
          </a:xfrm>
          <a:prstGeom prst="rect">
            <a:avLst/>
          </a:prstGeom>
          <a:noFill/>
          <a:ln/>
        </p:spPr>
        <p:txBody>
          <a:bodyPr wrap="square" lIns="0" tIns="0" rIns="0" bIns="0" rtlCol="0" anchor="ctr"/>
          <a:lstStyle/>
          <a:p>
            <a:pPr indent="0" marL="0">
              <a:buNone/>
            </a:pPr>
            <a:r>
              <a:rPr lang="en-US" sz="1500" b="1" dirty="0">
                <a:solidFill>
                  <a:schemeClr val="tx2"/>
                </a:solidFill>
              </a:rPr>
              <a:t>Also in the package: </a:t>
            </a:r>
            <a:pPr indent="0" marL="0">
              <a:buNone/>
            </a:pPr>
            <a:r>
              <a:rPr lang="en-US" sz="1500" dirty="0">
                <a:solidFill>
                  <a:schemeClr val="tx1"/>
                </a:solidFill>
              </a:rPr>
              <a:t>School-on-the-Air (1,000 enrollees), Pinili bamboo training (46 participants), alukon training (64 farmers), Badoc mangrove planting (280 propagules).</a:t>
            </a:r>
            <a:endParaRPr lang="en-US" sz="15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lIns="0" tIns="0" rIns="0" bIns="0" rtlCol="0" anchor="ctr"/>
          <a:lstStyle/>
          <a:p>
            <a:pPr algn="l" indent="0" marL="0">
              <a:buNone/>
            </a:pPr>
            <a:r>
              <a:rPr lang="en-US" sz="3400" b="1" dirty="0">
                <a:solidFill>
                  <a:schemeClr val="tx2"/>
                </a:solidFill>
              </a:rPr>
              <a:t>VSU placed 91st in SDG 15 with multi-year evidence</a:t>
            </a:r>
            <a:endParaRPr lang="en-US" sz="3400" dirty="0"/>
          </a:p>
        </p:txBody>
      </p:sp>
      <p:sp>
        <p:nvSpPr>
          <p:cNvPr id="3" name="VSU stat card"/>
          <p:cNvSpPr/>
          <p:nvPr/>
        </p:nvSpPr>
        <p:spPr>
          <a:xfrm>
            <a:off x="548640" y="1508760"/>
            <a:ext cx="3931920" cy="3291840"/>
          </a:xfrm>
          <a:prstGeom prst="roundRect">
            <a:avLst>
              <a:gd name="adj" fmla="val 3333"/>
            </a:avLst>
          </a:prstGeom>
          <a:solidFill>
            <a:schemeClr val="bg2"/>
          </a:solidFill>
          <a:ln w="12700">
            <a:solidFill>
              <a:schemeClr val="bg2"/>
            </a:solidFill>
            <a:prstDash val="solid"/>
          </a:ln>
        </p:spPr>
      </p:sp>
      <p:sp>
        <p:nvSpPr>
          <p:cNvPr id="4" name="Text 2"/>
          <p:cNvSpPr txBox="1"/>
          <p:nvPr/>
        </p:nvSpPr>
        <p:spPr>
          <a:xfrm>
            <a:off x="777240" y="1691640"/>
            <a:ext cx="3474720" cy="1371600"/>
          </a:xfrm>
          <a:prstGeom prst="rect">
            <a:avLst/>
          </a:prstGeom>
          <a:noFill/>
          <a:ln/>
        </p:spPr>
        <p:txBody>
          <a:bodyPr wrap="square" lIns="0" tIns="0" rIns="0" bIns="0" rtlCol="0" anchor="t"/>
          <a:lstStyle/>
          <a:p>
            <a:pPr indent="0" marL="0">
              <a:buNone/>
            </a:pPr>
            <a:r>
              <a:rPr lang="en-US" sz="8000" b="1" dirty="0">
                <a:solidFill>
                  <a:schemeClr val="tx2"/>
                </a:solidFill>
                <a:latin typeface="+mj-lt" pitchFamily="34" charset="0"/>
                <a:ea typeface="+mj-lt" pitchFamily="34" charset="-122"/>
                <a:cs typeface="+mj-lt" pitchFamily="34" charset="-120"/>
              </a:rPr>
              <a:t>91st</a:t>
            </a:r>
            <a:endParaRPr lang="en-US" sz="8000" dirty="0"/>
          </a:p>
        </p:txBody>
      </p:sp>
      <p:sp>
        <p:nvSpPr>
          <p:cNvPr id="5" name="Text 3"/>
          <p:cNvSpPr txBox="1"/>
          <p:nvPr/>
        </p:nvSpPr>
        <p:spPr>
          <a:xfrm>
            <a:off x="777240" y="3108960"/>
            <a:ext cx="3474720" cy="822960"/>
          </a:xfrm>
          <a:prstGeom prst="rect">
            <a:avLst/>
          </a:prstGeom>
          <a:noFill/>
          <a:ln/>
        </p:spPr>
        <p:txBody>
          <a:bodyPr wrap="square" lIns="0" tIns="0" rIns="0" bIns="0" rtlCol="0" anchor="t"/>
          <a:lstStyle/>
          <a:p>
            <a:pPr indent="0" marL="0">
              <a:buNone/>
            </a:pPr>
            <a:r>
              <a:rPr lang="en-US" sz="1800" dirty="0">
                <a:solidFill>
                  <a:schemeClr val="tx1"/>
                </a:solidFill>
              </a:rPr>
              <a:t>of 658 universities in SDG 15, THE Impact Rankings 2026</a:t>
            </a:r>
            <a:endParaRPr lang="en-US" sz="1800" dirty="0"/>
          </a:p>
        </p:txBody>
      </p:sp>
      <p:sp>
        <p:nvSpPr>
          <p:cNvPr id="6" name="Text 4"/>
          <p:cNvSpPr txBox="1"/>
          <p:nvPr/>
        </p:nvSpPr>
        <p:spPr>
          <a:xfrm>
            <a:off x="777240" y="3977640"/>
            <a:ext cx="3474720" cy="731520"/>
          </a:xfrm>
          <a:prstGeom prst="rect">
            <a:avLst/>
          </a:prstGeom>
          <a:noFill/>
          <a:ln/>
        </p:spPr>
        <p:txBody>
          <a:bodyPr wrap="square" lIns="0" tIns="0" rIns="0" bIns="0" rtlCol="0" anchor="t"/>
          <a:lstStyle/>
          <a:p>
            <a:pPr indent="0" marL="0">
              <a:buNone/>
            </a:pPr>
            <a:r>
              <a:rPr lang="en-US" sz="1400" dirty="0">
                <a:solidFill>
                  <a:schemeClr val="accent5"/>
                </a:solidFill>
              </a:rPr>
              <a:t>Overall 301 to 400 band; top state university in the Philippines.</a:t>
            </a:r>
            <a:endParaRPr lang="en-US" sz="1400" dirty="0"/>
          </a:p>
        </p:txBody>
      </p:sp>
      <p:sp>
        <p:nvSpPr>
          <p:cNvPr id="7" name="One PDF per indicator badge"/>
          <p:cNvSpPr/>
          <p:nvPr/>
        </p:nvSpPr>
        <p:spPr>
          <a:xfrm>
            <a:off x="4846320" y="1508760"/>
            <a:ext cx="731520" cy="731520"/>
          </a:xfrm>
          <a:prstGeom prst="ellipse">
            <a:avLst/>
          </a:prstGeom>
          <a:solidFill>
            <a:schemeClr val="accent1"/>
          </a:solidFill>
          <a:ln w="12700">
            <a:solidFill>
              <a:schemeClr val="accent1"/>
            </a:solidFill>
            <a:prstDash val="solid"/>
          </a:ln>
        </p:spPr>
      </p:sp>
      <p:pic>
        <p:nvPicPr>
          <p:cNvPr id="8" name="One PDF per indicator icon" descr="One PDF per indicator">    </p:cNvPr>
          <p:cNvPicPr>
            <a:picLocks noChangeAspect="1"/>
          </p:cNvPicPr>
          <p:nvPr/>
        </p:nvPicPr>
        <p:blipFill>
          <a:blip r:embed="rId1"/>
          <a:stretch>
            <a:fillRect/>
          </a:stretch>
        </p:blipFill>
        <p:spPr>
          <a:xfrm>
            <a:off x="5036515" y="1698955"/>
            <a:ext cx="351130" cy="351130"/>
          </a:xfrm>
          <a:prstGeom prst="rect">
            <a:avLst/>
          </a:prstGeom>
        </p:spPr>
      </p:pic>
      <p:sp>
        <p:nvSpPr>
          <p:cNvPr id="9" name="Text 6"/>
          <p:cNvSpPr txBox="1"/>
          <p:nvPr/>
        </p:nvSpPr>
        <p:spPr>
          <a:xfrm>
            <a:off x="5806440" y="1508760"/>
            <a:ext cx="5806440" cy="365760"/>
          </a:xfrm>
          <a:prstGeom prst="rect">
            <a:avLst/>
          </a:prstGeom>
          <a:noFill/>
          <a:ln/>
        </p:spPr>
        <p:txBody>
          <a:bodyPr wrap="square" lIns="0" tIns="0" rIns="0" bIns="0" rtlCol="0" anchor="t"/>
          <a:lstStyle/>
          <a:p>
            <a:pPr indent="0" marL="0">
              <a:buNone/>
            </a:pPr>
            <a:r>
              <a:rPr lang="en-US" sz="2000" b="1" dirty="0">
                <a:solidFill>
                  <a:schemeClr val="tx2"/>
                </a:solidFill>
              </a:rPr>
              <a:t>One PDF per indicator</a:t>
            </a:r>
            <a:endParaRPr lang="en-US" sz="2000" dirty="0"/>
          </a:p>
        </p:txBody>
      </p:sp>
      <p:sp>
        <p:nvSpPr>
          <p:cNvPr id="10" name="Text 7"/>
          <p:cNvSpPr txBox="1"/>
          <p:nvPr/>
        </p:nvSpPr>
        <p:spPr>
          <a:xfrm>
            <a:off x="5806440" y="1892808"/>
            <a:ext cx="5806440" cy="640080"/>
          </a:xfrm>
          <a:prstGeom prst="rect">
            <a:avLst/>
          </a:prstGeom>
          <a:noFill/>
          <a:ln/>
        </p:spPr>
        <p:txBody>
          <a:bodyPr wrap="square" lIns="0" tIns="0" rIns="0" bIns="0" rtlCol="0" anchor="t"/>
          <a:lstStyle/>
          <a:p>
            <a:pPr indent="0" marL="0">
              <a:buNone/>
            </a:pPr>
            <a:r>
              <a:rPr lang="en-US" sz="1500" dirty="0">
                <a:solidFill>
                  <a:schemeClr val="tx1"/>
                </a:solidFill>
              </a:rPr>
              <a:t>Six to 20 pages each, public on VSU's SDG portal, covering all 14 indicators.</a:t>
            </a:r>
            <a:endParaRPr lang="en-US" sz="1500" dirty="0"/>
          </a:p>
        </p:txBody>
      </p:sp>
      <p:sp>
        <p:nvSpPr>
          <p:cNvPr id="11" name="Years are mixed badge"/>
          <p:cNvSpPr/>
          <p:nvPr/>
        </p:nvSpPr>
        <p:spPr>
          <a:xfrm>
            <a:off x="4846320" y="2651760"/>
            <a:ext cx="731520" cy="731520"/>
          </a:xfrm>
          <a:prstGeom prst="ellipse">
            <a:avLst/>
          </a:prstGeom>
          <a:solidFill>
            <a:schemeClr val="accent1"/>
          </a:solidFill>
          <a:ln w="12700">
            <a:solidFill>
              <a:schemeClr val="accent1"/>
            </a:solidFill>
            <a:prstDash val="solid"/>
          </a:ln>
        </p:spPr>
      </p:sp>
      <p:pic>
        <p:nvPicPr>
          <p:cNvPr id="12" name="Years are mixed icon" descr="Years are mixed">    </p:cNvPr>
          <p:cNvPicPr>
            <a:picLocks noChangeAspect="1"/>
          </p:cNvPicPr>
          <p:nvPr/>
        </p:nvPicPr>
        <p:blipFill>
          <a:blip r:embed="rId2"/>
          <a:stretch>
            <a:fillRect/>
          </a:stretch>
        </p:blipFill>
        <p:spPr>
          <a:xfrm>
            <a:off x="5036515" y="2841955"/>
            <a:ext cx="351130" cy="351130"/>
          </a:xfrm>
          <a:prstGeom prst="rect">
            <a:avLst/>
          </a:prstGeom>
        </p:spPr>
      </p:pic>
      <p:sp>
        <p:nvSpPr>
          <p:cNvPr id="13" name="Text 9"/>
          <p:cNvSpPr txBox="1"/>
          <p:nvPr/>
        </p:nvSpPr>
        <p:spPr>
          <a:xfrm>
            <a:off x="5806440" y="2651760"/>
            <a:ext cx="5806440" cy="365760"/>
          </a:xfrm>
          <a:prstGeom prst="rect">
            <a:avLst/>
          </a:prstGeom>
          <a:noFill/>
          <a:ln/>
        </p:spPr>
        <p:txBody>
          <a:bodyPr wrap="square" lIns="0" tIns="0" rIns="0" bIns="0" rtlCol="0" anchor="t"/>
          <a:lstStyle/>
          <a:p>
            <a:pPr indent="0" marL="0">
              <a:buNone/>
            </a:pPr>
            <a:r>
              <a:rPr lang="en-US" sz="2000" b="1" dirty="0">
                <a:solidFill>
                  <a:schemeClr val="tx2"/>
                </a:solidFill>
              </a:rPr>
              <a:t>Years are mixed</a:t>
            </a:r>
            <a:endParaRPr lang="en-US" sz="2000" dirty="0"/>
          </a:p>
        </p:txBody>
      </p:sp>
      <p:sp>
        <p:nvSpPr>
          <p:cNvPr id="14" name="Text 10"/>
          <p:cNvSpPr txBox="1"/>
          <p:nvPr/>
        </p:nvSpPr>
        <p:spPr>
          <a:xfrm>
            <a:off x="5806440" y="3035808"/>
            <a:ext cx="5806440" cy="640080"/>
          </a:xfrm>
          <a:prstGeom prst="rect">
            <a:avLst/>
          </a:prstGeom>
          <a:noFill/>
          <a:ln/>
        </p:spPr>
        <p:txBody>
          <a:bodyPr wrap="square" lIns="0" tIns="0" rIns="0" bIns="0" rtlCol="0" anchor="t"/>
          <a:lstStyle/>
          <a:p>
            <a:pPr indent="0" marL="0">
              <a:buNone/>
            </a:pPr>
            <a:r>
              <a:rPr lang="en-US" sz="1500" dirty="0">
                <a:solidFill>
                  <a:schemeClr val="tx1"/>
                </a:solidFill>
              </a:rPr>
              <a:t>2025 items sit beside older ones: 2013 and 2022 memoranda, 2019 and 2023 events.</a:t>
            </a:r>
            <a:endParaRPr lang="en-US" sz="1500" dirty="0"/>
          </a:p>
        </p:txBody>
      </p:sp>
      <p:sp>
        <p:nvSpPr>
          <p:cNvPr id="15" name="Policy answers cite law and a memo badge"/>
          <p:cNvSpPr/>
          <p:nvPr/>
        </p:nvSpPr>
        <p:spPr>
          <a:xfrm>
            <a:off x="4846320" y="3794760"/>
            <a:ext cx="731520" cy="731520"/>
          </a:xfrm>
          <a:prstGeom prst="ellipse">
            <a:avLst/>
          </a:prstGeom>
          <a:solidFill>
            <a:schemeClr val="accent1"/>
          </a:solidFill>
          <a:ln w="12700">
            <a:solidFill>
              <a:schemeClr val="accent1"/>
            </a:solidFill>
            <a:prstDash val="solid"/>
          </a:ln>
        </p:spPr>
      </p:sp>
      <p:pic>
        <p:nvPicPr>
          <p:cNvPr id="16" name="Policy answers cite law and a memo icon" descr="Policy answers cite law and a memo">    </p:cNvPr>
          <p:cNvPicPr>
            <a:picLocks noChangeAspect="1"/>
          </p:cNvPicPr>
          <p:nvPr/>
        </p:nvPicPr>
        <p:blipFill>
          <a:blip r:embed="rId3"/>
          <a:stretch>
            <a:fillRect/>
          </a:stretch>
        </p:blipFill>
        <p:spPr>
          <a:xfrm>
            <a:off x="5036515" y="3984955"/>
            <a:ext cx="351130" cy="351130"/>
          </a:xfrm>
          <a:prstGeom prst="rect">
            <a:avLst/>
          </a:prstGeom>
        </p:spPr>
      </p:pic>
      <p:sp>
        <p:nvSpPr>
          <p:cNvPr id="17" name="Text 12"/>
          <p:cNvSpPr txBox="1"/>
          <p:nvPr/>
        </p:nvSpPr>
        <p:spPr>
          <a:xfrm>
            <a:off x="5806440" y="3794760"/>
            <a:ext cx="5806440" cy="365760"/>
          </a:xfrm>
          <a:prstGeom prst="rect">
            <a:avLst/>
          </a:prstGeom>
          <a:noFill/>
          <a:ln/>
        </p:spPr>
        <p:txBody>
          <a:bodyPr wrap="square" lIns="0" tIns="0" rIns="0" bIns="0" rtlCol="0" anchor="t"/>
          <a:lstStyle/>
          <a:p>
            <a:pPr indent="0" marL="0">
              <a:buNone/>
            </a:pPr>
            <a:r>
              <a:rPr lang="en-US" sz="2000" b="1" dirty="0">
                <a:solidFill>
                  <a:schemeClr val="tx2"/>
                </a:solidFill>
              </a:rPr>
              <a:t>Policy answers cite law and a memo</a:t>
            </a:r>
            <a:endParaRPr lang="en-US" sz="2000" dirty="0"/>
          </a:p>
        </p:txBody>
      </p:sp>
      <p:sp>
        <p:nvSpPr>
          <p:cNvPr id="18" name="Text 13"/>
          <p:cNvSpPr txBox="1"/>
          <p:nvPr/>
        </p:nvSpPr>
        <p:spPr>
          <a:xfrm>
            <a:off x="5806440" y="4178808"/>
            <a:ext cx="5806440" cy="640080"/>
          </a:xfrm>
          <a:prstGeom prst="rect">
            <a:avLst/>
          </a:prstGeom>
          <a:noFill/>
          <a:ln/>
        </p:spPr>
        <p:txBody>
          <a:bodyPr wrap="square" lIns="0" tIns="0" rIns="0" bIns="0" rtlCol="0" anchor="t"/>
          <a:lstStyle/>
          <a:p>
            <a:pPr indent="0" marL="0">
              <a:buNone/>
            </a:pPr>
            <a:r>
              <a:rPr lang="en-US" sz="1500" dirty="0">
                <a:solidFill>
                  <a:schemeClr val="tx1"/>
                </a:solidFill>
              </a:rPr>
              <a:t>National laws such as RA 9147 and RA 9275, plus a dated university memorandum.</a:t>
            </a:r>
            <a:endParaRPr lang="en-US" sz="1500" dirty="0"/>
          </a:p>
        </p:txBody>
      </p:sp>
      <p:sp>
        <p:nvSpPr>
          <p:cNvPr id="19" name="Takeaway card"/>
          <p:cNvSpPr/>
          <p:nvPr/>
        </p:nvSpPr>
        <p:spPr>
          <a:xfrm>
            <a:off x="548640" y="5074920"/>
            <a:ext cx="11064240" cy="1051560"/>
          </a:xfrm>
          <a:prstGeom prst="roundRect">
            <a:avLst>
              <a:gd name="adj" fmla="val 10435"/>
            </a:avLst>
          </a:prstGeom>
          <a:solidFill>
            <a:schemeClr val="tx2"/>
          </a:solidFill>
          <a:ln w="12700">
            <a:solidFill>
              <a:schemeClr val="tx2"/>
            </a:solidFill>
            <a:prstDash val="solid"/>
          </a:ln>
        </p:spPr>
      </p:sp>
      <p:sp>
        <p:nvSpPr>
          <p:cNvPr id="20" name="Text 15"/>
          <p:cNvSpPr txBox="1"/>
          <p:nvPr/>
        </p:nvSpPr>
        <p:spPr>
          <a:xfrm>
            <a:off x="822960" y="5166360"/>
            <a:ext cx="10515600" cy="868680"/>
          </a:xfrm>
          <a:prstGeom prst="rect">
            <a:avLst/>
          </a:prstGeom>
          <a:noFill/>
          <a:ln/>
        </p:spPr>
        <p:txBody>
          <a:bodyPr wrap="square" lIns="0" tIns="0" rIns="0" bIns="0" rtlCol="0" anchor="ctr"/>
          <a:lstStyle/>
          <a:p>
            <a:pPr indent="0" marL="0">
              <a:buNone/>
            </a:pPr>
            <a:r>
              <a:rPr lang="en-US" sz="1800" b="1" dirty="0">
                <a:solidFill>
                  <a:schemeClr val="accent6"/>
                </a:solidFill>
              </a:rPr>
              <a:t>For MMSU: </a:t>
            </a:r>
            <a:pPr indent="0" marL="0">
              <a:buNone/>
            </a:pPr>
            <a:r>
              <a:rPr lang="en-US" sz="1800" dirty="0">
                <a:solidFill>
                  <a:schemeClr val="bg1"/>
                </a:solidFill>
              </a:rPr>
              <a:t>keep 2025 first, then add dated policies and programmes that continue. A policy that only restates national law should not be our model.</a:t>
            </a:r>
            <a:endParaRPr lang="en-US" sz="18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lIns="0" tIns="0" rIns="0" bIns="0" rtlCol="0" anchor="ctr"/>
          <a:lstStyle/>
          <a:p>
            <a:pPr algn="l" indent="0" marL="0">
              <a:buNone/>
            </a:pPr>
            <a:r>
              <a:rPr lang="en-US" sz="3400" b="1" dirty="0">
                <a:solidFill>
                  <a:schemeClr val="tx2"/>
                </a:solidFill>
              </a:rPr>
              <a:t>Continuing implementation fills the policy gaps</a:t>
            </a:r>
            <a:endParaRPr lang="en-US" sz="3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1280160"/>
                <a:gridCol w="7223760"/>
                <a:gridCol w="2560320"/>
              </a:tblGrid>
              <a:tr h="512064">
                <a:tc>
                  <a:txBody>
                    <a:bodyPr/>
                    <a:lstStyle/>
                    <a:p>
                      <a:pPr indent="0" marL="0">
                        <a:buNone/>
                      </a:pPr>
                      <a:r>
                        <a:rPr lang="en-US" sz="1600" b="1" dirty="0">
                          <a:solidFill>
                            <a:schemeClr val="bg1"/>
                          </a:solidFill>
                        </a:rPr>
                        <a:t>Indicator</a:t>
                      </a:r>
                      <a:endParaRPr lang="en-US" sz="1600" dirty="0"/>
                    </a:p>
                  </a:txBody>
                  <a:tcPr marL="109728" marR="109728" marT="54864" marB="54864" anchor="ctr">
                    <a:lnL w="9525" cap="flat" cmpd="sng" algn="ctr">
                      <a:solidFill>
                        <a:srgbClr val="D5E6CF"/>
                      </a:solidFill>
                      <a:prstDash val="solid"/>
                      <a:round/>
                      <a:headEnd type="none" w="med" len="med"/>
                      <a:tailEnd type="none" w="med" len="med"/>
                    </a:lnL>
                    <a:lnR w="9525" cap="flat" cmpd="sng" algn="ctr">
                      <a:solidFill>
                        <a:srgbClr val="D5E6CF"/>
                      </a:solidFill>
                      <a:prstDash val="solid"/>
                      <a:round/>
                      <a:headEnd type="none" w="med" len="med"/>
                      <a:tailEnd type="none" w="med" len="med"/>
                    </a:lnR>
                    <a:lnT w="9525" cap="flat" cmpd="sng" algn="ctr">
                      <a:solidFill>
                        <a:srgbClr val="D5E6CF"/>
                      </a:solidFill>
                      <a:prstDash val="solid"/>
                      <a:round/>
                      <a:headEnd type="none" w="med" len="med"/>
                      <a:tailEnd type="none" w="med" len="med"/>
                    </a:lnT>
                    <a:lnB w="9525" cap="flat" cmpd="sng" algn="ctr">
                      <a:solidFill>
                        <a:srgbClr val="D5E6CF"/>
                      </a:solidFill>
                      <a:prstDash val="solid"/>
                      <a:round/>
                      <a:headEnd type="none" w="med" len="med"/>
                      <a:tailEnd type="none" w="med" len="med"/>
                    </a:lnB>
                    <a:solidFill>
                      <a:schemeClr val="tx2"/>
                    </a:solidFill>
                  </a:tcPr>
                </a:tc>
                <a:tc>
                  <a:txBody>
                    <a:bodyPr/>
                    <a:lstStyle/>
                    <a:p>
                      <a:pPr indent="0" marL="0">
                        <a:buNone/>
                      </a:pPr>
                      <a:r>
                        <a:rPr lang="en-US" sz="1600" b="1" dirty="0">
                          <a:solidFill>
                            <a:schemeClr val="bg1"/>
                          </a:solidFill>
                        </a:rPr>
                        <a:t>What continues</a:t>
                      </a:r>
                      <a:endParaRPr lang="en-US" sz="1600" dirty="0"/>
                    </a:p>
                  </a:txBody>
                  <a:tcPr marL="109728" marR="109728" marT="54864" marB="54864" anchor="ctr">
                    <a:lnL w="9525" cap="flat" cmpd="sng" algn="ctr">
                      <a:solidFill>
                        <a:srgbClr val="D5E6CF"/>
                      </a:solidFill>
                      <a:prstDash val="solid"/>
                      <a:round/>
                      <a:headEnd type="none" w="med" len="med"/>
                      <a:tailEnd type="none" w="med" len="med"/>
                    </a:lnL>
                    <a:lnR w="9525" cap="flat" cmpd="sng" algn="ctr">
                      <a:solidFill>
                        <a:srgbClr val="D5E6CF"/>
                      </a:solidFill>
                      <a:prstDash val="solid"/>
                      <a:round/>
                      <a:headEnd type="none" w="med" len="med"/>
                      <a:tailEnd type="none" w="med" len="med"/>
                    </a:lnR>
                    <a:lnT w="9525" cap="flat" cmpd="sng" algn="ctr">
                      <a:solidFill>
                        <a:srgbClr val="D5E6CF"/>
                      </a:solidFill>
                      <a:prstDash val="solid"/>
                      <a:round/>
                      <a:headEnd type="none" w="med" len="med"/>
                      <a:tailEnd type="none" w="med" len="med"/>
                    </a:lnT>
                    <a:lnB w="9525" cap="flat" cmpd="sng" algn="ctr">
                      <a:solidFill>
                        <a:srgbClr val="D5E6CF"/>
                      </a:solidFill>
                      <a:prstDash val="solid"/>
                      <a:round/>
                      <a:headEnd type="none" w="med" len="med"/>
                      <a:tailEnd type="none" w="med" len="med"/>
                    </a:lnB>
                    <a:solidFill>
                      <a:schemeClr val="tx2"/>
                    </a:solidFill>
                  </a:tcPr>
                </a:tc>
                <a:tc>
                  <a:txBody>
                    <a:bodyPr/>
                    <a:lstStyle/>
                    <a:p>
                      <a:pPr indent="0" marL="0">
                        <a:buNone/>
                      </a:pPr>
                      <a:r>
                        <a:rPr lang="en-US" sz="1600" b="1" dirty="0">
                          <a:solidFill>
                            <a:schemeClr val="bg1"/>
                          </a:solidFill>
                        </a:rPr>
                        <a:t>Since</a:t>
                      </a:r>
                      <a:endParaRPr lang="en-US" sz="1600" dirty="0"/>
                    </a:p>
                  </a:txBody>
                  <a:tcPr marL="109728" marR="109728" marT="54864" marB="54864" anchor="ctr">
                    <a:lnL w="9525" cap="flat" cmpd="sng" algn="ctr">
                      <a:solidFill>
                        <a:srgbClr val="D5E6CF"/>
                      </a:solidFill>
                      <a:prstDash val="solid"/>
                      <a:round/>
                      <a:headEnd type="none" w="med" len="med"/>
                      <a:tailEnd type="none" w="med" len="med"/>
                    </a:lnL>
                    <a:lnR w="9525" cap="flat" cmpd="sng" algn="ctr">
                      <a:solidFill>
                        <a:srgbClr val="D5E6CF"/>
                      </a:solidFill>
                      <a:prstDash val="solid"/>
                      <a:round/>
                      <a:headEnd type="none" w="med" len="med"/>
                      <a:tailEnd type="none" w="med" len="med"/>
                    </a:lnR>
                    <a:lnT w="9525" cap="flat" cmpd="sng" algn="ctr">
                      <a:solidFill>
                        <a:srgbClr val="D5E6CF"/>
                      </a:solidFill>
                      <a:prstDash val="solid"/>
                      <a:round/>
                      <a:headEnd type="none" w="med" len="med"/>
                      <a:tailEnd type="none" w="med" len="med"/>
                    </a:lnT>
                    <a:lnB w="9525" cap="flat" cmpd="sng" algn="ctr">
                      <a:solidFill>
                        <a:srgbClr val="D5E6CF"/>
                      </a:solidFill>
                      <a:prstDash val="solid"/>
                      <a:round/>
                      <a:headEnd type="none" w="med" len="med"/>
                      <a:tailEnd type="none" w="med" len="med"/>
                    </a:lnB>
                    <a:solidFill>
                      <a:schemeClr val="tx2"/>
                    </a:solidFill>
                  </a:tcPr>
                </a:tc>
              </a:tr>
              <a:tr h="512064">
                <a:tc>
                  <a:txBody>
                    <a:bodyPr/>
                    <a:lstStyle/>
                    <a:p>
                      <a:pPr indent="0" marL="0">
                        <a:buNone/>
                      </a:pPr>
                      <a:r>
                        <a:rPr lang="en-US" sz="1600" b="1" dirty="0">
                          <a:solidFill>
                            <a:schemeClr val="tx1"/>
                          </a:solidFill>
                        </a:rPr>
                        <a:t>15.3.1</a:t>
                      </a:r>
                      <a:endParaRPr lang="en-US" sz="1600" dirty="0"/>
                    </a:p>
                  </a:txBody>
                  <a:tcPr marL="109728" marR="109728" marT="54864" marB="54864" anchor="ctr">
                    <a:lnL w="9525" cap="flat" cmpd="sng" algn="ctr">
                      <a:solidFill>
                        <a:srgbClr val="D5E6CF"/>
                      </a:solidFill>
                      <a:prstDash val="solid"/>
                      <a:round/>
                      <a:headEnd type="none" w="med" len="med"/>
                      <a:tailEnd type="none" w="med" len="med"/>
                    </a:lnL>
                    <a:lnR w="9525" cap="flat" cmpd="sng" algn="ctr">
                      <a:solidFill>
                        <a:srgbClr val="D5E6CF"/>
                      </a:solidFill>
                      <a:prstDash val="solid"/>
                      <a:round/>
                      <a:headEnd type="none" w="med" len="med"/>
                      <a:tailEnd type="none" w="med" len="med"/>
                    </a:lnR>
                    <a:lnT w="9525" cap="flat" cmpd="sng" algn="ctr">
                      <a:solidFill>
                        <a:srgbClr val="D5E6CF"/>
                      </a:solidFill>
                      <a:prstDash val="solid"/>
                      <a:round/>
                      <a:headEnd type="none" w="med" len="med"/>
                      <a:tailEnd type="none" w="med" len="med"/>
                    </a:lnT>
                    <a:lnB w="9525" cap="flat" cmpd="sng" algn="ctr">
                      <a:solidFill>
                        <a:srgbClr val="D5E6CF"/>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Land use policy: conserve, restore and protect university lands</a:t>
                      </a:r>
                      <a:endParaRPr lang="en-US" sz="1600" dirty="0"/>
                    </a:p>
                  </a:txBody>
                  <a:tcPr marL="109728" marR="109728" marT="54864" marB="54864" anchor="ctr">
                    <a:lnL w="9525" cap="flat" cmpd="sng" algn="ctr">
                      <a:solidFill>
                        <a:srgbClr val="D5E6CF"/>
                      </a:solidFill>
                      <a:prstDash val="solid"/>
                      <a:round/>
                      <a:headEnd type="none" w="med" len="med"/>
                      <a:tailEnd type="none" w="med" len="med"/>
                    </a:lnL>
                    <a:lnR w="9525" cap="flat" cmpd="sng" algn="ctr">
                      <a:solidFill>
                        <a:srgbClr val="D5E6CF"/>
                      </a:solidFill>
                      <a:prstDash val="solid"/>
                      <a:round/>
                      <a:headEnd type="none" w="med" len="med"/>
                      <a:tailEnd type="none" w="med" len="med"/>
                    </a:lnR>
                    <a:lnT w="9525" cap="flat" cmpd="sng" algn="ctr">
                      <a:solidFill>
                        <a:srgbClr val="D5E6CF"/>
                      </a:solidFill>
                      <a:prstDash val="solid"/>
                      <a:round/>
                      <a:headEnd type="none" w="med" len="med"/>
                      <a:tailEnd type="none" w="med" len="med"/>
                    </a:lnT>
                    <a:lnB w="9525" cap="flat" cmpd="sng" algn="ctr">
                      <a:solidFill>
                        <a:srgbClr val="D5E6CF"/>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2021</a:t>
                      </a:r>
                      <a:endParaRPr lang="en-US" sz="1600" dirty="0"/>
                    </a:p>
                  </a:txBody>
                  <a:tcPr marL="109728" marR="109728" marT="54864" marB="54864" anchor="ctr">
                    <a:lnL w="9525" cap="flat" cmpd="sng" algn="ctr">
                      <a:solidFill>
                        <a:srgbClr val="D5E6CF"/>
                      </a:solidFill>
                      <a:prstDash val="solid"/>
                      <a:round/>
                      <a:headEnd type="none" w="med" len="med"/>
                      <a:tailEnd type="none" w="med" len="med"/>
                    </a:lnL>
                    <a:lnR w="9525" cap="flat" cmpd="sng" algn="ctr">
                      <a:solidFill>
                        <a:srgbClr val="D5E6CF"/>
                      </a:solidFill>
                      <a:prstDash val="solid"/>
                      <a:round/>
                      <a:headEnd type="none" w="med" len="med"/>
                      <a:tailEnd type="none" w="med" len="med"/>
                    </a:lnR>
                    <a:lnT w="9525" cap="flat" cmpd="sng" algn="ctr">
                      <a:solidFill>
                        <a:srgbClr val="D5E6CF"/>
                      </a:solidFill>
                      <a:prstDash val="solid"/>
                      <a:round/>
                      <a:headEnd type="none" w="med" len="med"/>
                      <a:tailEnd type="none" w="med" len="med"/>
                    </a:lnT>
                    <a:lnB w="9525" cap="flat" cmpd="sng" algn="ctr">
                      <a:solidFill>
                        <a:srgbClr val="D5E6CF"/>
                      </a:solidFill>
                      <a:prstDash val="solid"/>
                      <a:round/>
                      <a:headEnd type="none" w="med" len="med"/>
                      <a:tailEnd type="none" w="med" len="med"/>
                    </a:lnB>
                    <a:solidFill>
                      <a:schemeClr val="bg1"/>
                    </a:solidFill>
                  </a:tcPr>
                </a:tc>
              </a:tr>
              <a:tr h="512064">
                <a:tc>
                  <a:txBody>
                    <a:bodyPr/>
                    <a:lstStyle/>
                    <a:p>
                      <a:pPr indent="0" marL="0">
                        <a:buNone/>
                      </a:pPr>
                      <a:r>
                        <a:rPr lang="en-US" sz="1600" b="1" dirty="0">
                          <a:solidFill>
                            <a:schemeClr val="tx1"/>
                          </a:solidFill>
                        </a:rPr>
                        <a:t>15.3.3</a:t>
                      </a:r>
                      <a:endParaRPr lang="en-US" sz="1600" dirty="0"/>
                    </a:p>
                  </a:txBody>
                  <a:tcPr marL="109728" marR="109728" marT="54864" marB="54864" anchor="ctr">
                    <a:lnL w="9525" cap="flat" cmpd="sng" algn="ctr">
                      <a:solidFill>
                        <a:srgbClr val="D5E6CF"/>
                      </a:solidFill>
                      <a:prstDash val="solid"/>
                      <a:round/>
                      <a:headEnd type="none" w="med" len="med"/>
                      <a:tailEnd type="none" w="med" len="med"/>
                    </a:lnL>
                    <a:lnR w="9525" cap="flat" cmpd="sng" algn="ctr">
                      <a:solidFill>
                        <a:srgbClr val="D5E6CF"/>
                      </a:solidFill>
                      <a:prstDash val="solid"/>
                      <a:round/>
                      <a:headEnd type="none" w="med" len="med"/>
                      <a:tailEnd type="none" w="med" len="med"/>
                    </a:lnR>
                    <a:lnT w="9525" cap="flat" cmpd="sng" algn="ctr">
                      <a:solidFill>
                        <a:srgbClr val="D5E6CF"/>
                      </a:solidFill>
                      <a:prstDash val="solid"/>
                      <a:round/>
                      <a:headEnd type="none" w="med" len="med"/>
                      <a:tailEnd type="none" w="med" len="med"/>
                    </a:lnT>
                    <a:lnB w="9525" cap="flat" cmpd="sng" algn="ctr">
                      <a:solidFill>
                        <a:srgbClr val="D5E6CF"/>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Sirmata 2040: protected land and forest reserve kept no-build</a:t>
                      </a:r>
                      <a:endParaRPr lang="en-US" sz="1600" dirty="0"/>
                    </a:p>
                  </a:txBody>
                  <a:tcPr marL="109728" marR="109728" marT="54864" marB="54864" anchor="ctr">
                    <a:lnL w="9525" cap="flat" cmpd="sng" algn="ctr">
                      <a:solidFill>
                        <a:srgbClr val="D5E6CF"/>
                      </a:solidFill>
                      <a:prstDash val="solid"/>
                      <a:round/>
                      <a:headEnd type="none" w="med" len="med"/>
                      <a:tailEnd type="none" w="med" len="med"/>
                    </a:lnL>
                    <a:lnR w="9525" cap="flat" cmpd="sng" algn="ctr">
                      <a:solidFill>
                        <a:srgbClr val="D5E6CF"/>
                      </a:solidFill>
                      <a:prstDash val="solid"/>
                      <a:round/>
                      <a:headEnd type="none" w="med" len="med"/>
                      <a:tailEnd type="none" w="med" len="med"/>
                    </a:lnR>
                    <a:lnT w="9525" cap="flat" cmpd="sng" algn="ctr">
                      <a:solidFill>
                        <a:srgbClr val="D5E6CF"/>
                      </a:solidFill>
                      <a:prstDash val="solid"/>
                      <a:round/>
                      <a:headEnd type="none" w="med" len="med"/>
                      <a:tailEnd type="none" w="med" len="med"/>
                    </a:lnT>
                    <a:lnB w="9525" cap="flat" cmpd="sng" algn="ctr">
                      <a:solidFill>
                        <a:srgbClr val="D5E6CF"/>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2021</a:t>
                      </a:r>
                      <a:endParaRPr lang="en-US" sz="1600" dirty="0"/>
                    </a:p>
                  </a:txBody>
                  <a:tcPr marL="109728" marR="109728" marT="54864" marB="54864" anchor="ctr">
                    <a:lnL w="9525" cap="flat" cmpd="sng" algn="ctr">
                      <a:solidFill>
                        <a:srgbClr val="D5E6CF"/>
                      </a:solidFill>
                      <a:prstDash val="solid"/>
                      <a:round/>
                      <a:headEnd type="none" w="med" len="med"/>
                      <a:tailEnd type="none" w="med" len="med"/>
                    </a:lnL>
                    <a:lnR w="9525" cap="flat" cmpd="sng" algn="ctr">
                      <a:solidFill>
                        <a:srgbClr val="D5E6CF"/>
                      </a:solidFill>
                      <a:prstDash val="solid"/>
                      <a:round/>
                      <a:headEnd type="none" w="med" len="med"/>
                      <a:tailEnd type="none" w="med" len="med"/>
                    </a:lnR>
                    <a:lnT w="9525" cap="flat" cmpd="sng" algn="ctr">
                      <a:solidFill>
                        <a:srgbClr val="D5E6CF"/>
                      </a:solidFill>
                      <a:prstDash val="solid"/>
                      <a:round/>
                      <a:headEnd type="none" w="med" len="med"/>
                      <a:tailEnd type="none" w="med" len="med"/>
                    </a:lnT>
                    <a:lnB w="9525" cap="flat" cmpd="sng" algn="ctr">
                      <a:solidFill>
                        <a:srgbClr val="D5E6CF"/>
                      </a:solidFill>
                      <a:prstDash val="solid"/>
                      <a:round/>
                      <a:headEnd type="none" w="med" len="med"/>
                      <a:tailEnd type="none" w="med" len="med"/>
                    </a:lnB>
                    <a:solidFill>
                      <a:schemeClr val="bg1"/>
                    </a:solidFill>
                  </a:tcPr>
                </a:tc>
              </a:tr>
              <a:tr h="512064">
                <a:tc>
                  <a:txBody>
                    <a:bodyPr/>
                    <a:lstStyle/>
                    <a:p>
                      <a:pPr indent="0" marL="0">
                        <a:buNone/>
                      </a:pPr>
                      <a:r>
                        <a:rPr lang="en-US" sz="1600" b="1" dirty="0">
                          <a:solidFill>
                            <a:schemeClr val="tx1"/>
                          </a:solidFill>
                        </a:rPr>
                        <a:t>15.4.1</a:t>
                      </a:r>
                      <a:endParaRPr lang="en-US" sz="1600" dirty="0"/>
                    </a:p>
                  </a:txBody>
                  <a:tcPr marL="109728" marR="109728" marT="54864" marB="54864" anchor="ctr">
                    <a:lnL w="9525" cap="flat" cmpd="sng" algn="ctr">
                      <a:solidFill>
                        <a:srgbClr val="D5E6CF"/>
                      </a:solidFill>
                      <a:prstDash val="solid"/>
                      <a:round/>
                      <a:headEnd type="none" w="med" len="med"/>
                      <a:tailEnd type="none" w="med" len="med"/>
                    </a:lnL>
                    <a:lnR w="9525" cap="flat" cmpd="sng" algn="ctr">
                      <a:solidFill>
                        <a:srgbClr val="D5E6CF"/>
                      </a:solidFill>
                      <a:prstDash val="solid"/>
                      <a:round/>
                      <a:headEnd type="none" w="med" len="med"/>
                      <a:tailEnd type="none" w="med" len="med"/>
                    </a:lnR>
                    <a:lnT w="9525" cap="flat" cmpd="sng" algn="ctr">
                      <a:solidFill>
                        <a:srgbClr val="D5E6CF"/>
                      </a:solidFill>
                      <a:prstDash val="solid"/>
                      <a:round/>
                      <a:headEnd type="none" w="med" len="med"/>
                      <a:tailEnd type="none" w="med" len="med"/>
                    </a:lnT>
                    <a:lnB w="9525" cap="flat" cmpd="sng" algn="ctr">
                      <a:solidFill>
                        <a:srgbClr val="D5E6CF"/>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Water policy against pollution; groundwater monitoring of 17 farm wells</a:t>
                      </a:r>
                      <a:endParaRPr lang="en-US" sz="1600" dirty="0"/>
                    </a:p>
                  </a:txBody>
                  <a:tcPr marL="109728" marR="109728" marT="54864" marB="54864" anchor="ctr">
                    <a:lnL w="9525" cap="flat" cmpd="sng" algn="ctr">
                      <a:solidFill>
                        <a:srgbClr val="D5E6CF"/>
                      </a:solidFill>
                      <a:prstDash val="solid"/>
                      <a:round/>
                      <a:headEnd type="none" w="med" len="med"/>
                      <a:tailEnd type="none" w="med" len="med"/>
                    </a:lnL>
                    <a:lnR w="9525" cap="flat" cmpd="sng" algn="ctr">
                      <a:solidFill>
                        <a:srgbClr val="D5E6CF"/>
                      </a:solidFill>
                      <a:prstDash val="solid"/>
                      <a:round/>
                      <a:headEnd type="none" w="med" len="med"/>
                      <a:tailEnd type="none" w="med" len="med"/>
                    </a:lnR>
                    <a:lnT w="9525" cap="flat" cmpd="sng" algn="ctr">
                      <a:solidFill>
                        <a:srgbClr val="D5E6CF"/>
                      </a:solidFill>
                      <a:prstDash val="solid"/>
                      <a:round/>
                      <a:headEnd type="none" w="med" len="med"/>
                      <a:tailEnd type="none" w="med" len="med"/>
                    </a:lnT>
                    <a:lnB w="9525" cap="flat" cmpd="sng" algn="ctr">
                      <a:solidFill>
                        <a:srgbClr val="D5E6CF"/>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2021; to June 2025</a:t>
                      </a:r>
                      <a:endParaRPr lang="en-US" sz="1600" dirty="0"/>
                    </a:p>
                  </a:txBody>
                  <a:tcPr marL="109728" marR="109728" marT="54864" marB="54864" anchor="ctr">
                    <a:lnL w="9525" cap="flat" cmpd="sng" algn="ctr">
                      <a:solidFill>
                        <a:srgbClr val="D5E6CF"/>
                      </a:solidFill>
                      <a:prstDash val="solid"/>
                      <a:round/>
                      <a:headEnd type="none" w="med" len="med"/>
                      <a:tailEnd type="none" w="med" len="med"/>
                    </a:lnL>
                    <a:lnR w="9525" cap="flat" cmpd="sng" algn="ctr">
                      <a:solidFill>
                        <a:srgbClr val="D5E6CF"/>
                      </a:solidFill>
                      <a:prstDash val="solid"/>
                      <a:round/>
                      <a:headEnd type="none" w="med" len="med"/>
                      <a:tailEnd type="none" w="med" len="med"/>
                    </a:lnR>
                    <a:lnT w="9525" cap="flat" cmpd="sng" algn="ctr">
                      <a:solidFill>
                        <a:srgbClr val="D5E6CF"/>
                      </a:solidFill>
                      <a:prstDash val="solid"/>
                      <a:round/>
                      <a:headEnd type="none" w="med" len="med"/>
                      <a:tailEnd type="none" w="med" len="med"/>
                    </a:lnT>
                    <a:lnB w="9525" cap="flat" cmpd="sng" algn="ctr">
                      <a:solidFill>
                        <a:srgbClr val="D5E6CF"/>
                      </a:solidFill>
                      <a:prstDash val="solid"/>
                      <a:round/>
                      <a:headEnd type="none" w="med" len="med"/>
                      <a:tailEnd type="none" w="med" len="med"/>
                    </a:lnB>
                    <a:solidFill>
                      <a:schemeClr val="bg1"/>
                    </a:solidFill>
                  </a:tcPr>
                </a:tc>
              </a:tr>
              <a:tr h="512064">
                <a:tc>
                  <a:txBody>
                    <a:bodyPr/>
                    <a:lstStyle/>
                    <a:p>
                      <a:pPr indent="0" marL="0">
                        <a:buNone/>
                      </a:pPr>
                      <a:r>
                        <a:rPr lang="en-US" sz="1600" b="1" dirty="0">
                          <a:solidFill>
                            <a:schemeClr val="tx1"/>
                          </a:solidFill>
                        </a:rPr>
                        <a:t>15.4.2</a:t>
                      </a:r>
                      <a:endParaRPr lang="en-US" sz="1600" dirty="0"/>
                    </a:p>
                  </a:txBody>
                  <a:tcPr marL="109728" marR="109728" marT="54864" marB="54864" anchor="ctr">
                    <a:lnL w="9525" cap="flat" cmpd="sng" algn="ctr">
                      <a:solidFill>
                        <a:srgbClr val="D5E6CF"/>
                      </a:solidFill>
                      <a:prstDash val="solid"/>
                      <a:round/>
                      <a:headEnd type="none" w="med" len="med"/>
                      <a:tailEnd type="none" w="med" len="med"/>
                    </a:lnL>
                    <a:lnR w="9525" cap="flat" cmpd="sng" algn="ctr">
                      <a:solidFill>
                        <a:srgbClr val="D5E6CF"/>
                      </a:solidFill>
                      <a:prstDash val="solid"/>
                      <a:round/>
                      <a:headEnd type="none" w="med" len="med"/>
                      <a:tailEnd type="none" w="med" len="med"/>
                    </a:lnR>
                    <a:lnT w="9525" cap="flat" cmpd="sng" algn="ctr">
                      <a:solidFill>
                        <a:srgbClr val="D5E6CF"/>
                      </a:solidFill>
                      <a:prstDash val="solid"/>
                      <a:round/>
                      <a:headEnd type="none" w="med" len="med"/>
                      <a:tailEnd type="none" w="med" len="med"/>
                    </a:lnT>
                    <a:lnB w="9525" cap="flat" cmpd="sng" algn="ctr">
                      <a:solidFill>
                        <a:srgbClr val="D5E6CF"/>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Styrofoam and plastic rules; No Bottled Water memoranda</a:t>
                      </a:r>
                      <a:endParaRPr lang="en-US" sz="1600" dirty="0"/>
                    </a:p>
                  </a:txBody>
                  <a:tcPr marL="109728" marR="109728" marT="54864" marB="54864" anchor="ctr">
                    <a:lnL w="9525" cap="flat" cmpd="sng" algn="ctr">
                      <a:solidFill>
                        <a:srgbClr val="D5E6CF"/>
                      </a:solidFill>
                      <a:prstDash val="solid"/>
                      <a:round/>
                      <a:headEnd type="none" w="med" len="med"/>
                      <a:tailEnd type="none" w="med" len="med"/>
                    </a:lnL>
                    <a:lnR w="9525" cap="flat" cmpd="sng" algn="ctr">
                      <a:solidFill>
                        <a:srgbClr val="D5E6CF"/>
                      </a:solidFill>
                      <a:prstDash val="solid"/>
                      <a:round/>
                      <a:headEnd type="none" w="med" len="med"/>
                      <a:tailEnd type="none" w="med" len="med"/>
                    </a:lnR>
                    <a:lnT w="9525" cap="flat" cmpd="sng" algn="ctr">
                      <a:solidFill>
                        <a:srgbClr val="D5E6CF"/>
                      </a:solidFill>
                      <a:prstDash val="solid"/>
                      <a:round/>
                      <a:headEnd type="none" w="med" len="med"/>
                      <a:tailEnd type="none" w="med" len="med"/>
                    </a:lnT>
                    <a:lnB w="9525" cap="flat" cmpd="sng" algn="ctr">
                      <a:solidFill>
                        <a:srgbClr val="D5E6CF"/>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2009 to 2023</a:t>
                      </a:r>
                      <a:endParaRPr lang="en-US" sz="1600" dirty="0"/>
                    </a:p>
                  </a:txBody>
                  <a:tcPr marL="109728" marR="109728" marT="54864" marB="54864" anchor="ctr">
                    <a:lnL w="9525" cap="flat" cmpd="sng" algn="ctr">
                      <a:solidFill>
                        <a:srgbClr val="D5E6CF"/>
                      </a:solidFill>
                      <a:prstDash val="solid"/>
                      <a:round/>
                      <a:headEnd type="none" w="med" len="med"/>
                      <a:tailEnd type="none" w="med" len="med"/>
                    </a:lnL>
                    <a:lnR w="9525" cap="flat" cmpd="sng" algn="ctr">
                      <a:solidFill>
                        <a:srgbClr val="D5E6CF"/>
                      </a:solidFill>
                      <a:prstDash val="solid"/>
                      <a:round/>
                      <a:headEnd type="none" w="med" len="med"/>
                      <a:tailEnd type="none" w="med" len="med"/>
                    </a:lnR>
                    <a:lnT w="9525" cap="flat" cmpd="sng" algn="ctr">
                      <a:solidFill>
                        <a:srgbClr val="D5E6CF"/>
                      </a:solidFill>
                      <a:prstDash val="solid"/>
                      <a:round/>
                      <a:headEnd type="none" w="med" len="med"/>
                      <a:tailEnd type="none" w="med" len="med"/>
                    </a:lnT>
                    <a:lnB w="9525" cap="flat" cmpd="sng" algn="ctr">
                      <a:solidFill>
                        <a:srgbClr val="D5E6CF"/>
                      </a:solidFill>
                      <a:prstDash val="solid"/>
                      <a:round/>
                      <a:headEnd type="none" w="med" len="med"/>
                      <a:tailEnd type="none" w="med" len="med"/>
                    </a:lnB>
                    <a:solidFill>
                      <a:schemeClr val="bg1"/>
                    </a:solidFill>
                  </a:tcPr>
                </a:tc>
              </a:tr>
              <a:tr h="512064">
                <a:tc>
                  <a:txBody>
                    <a:bodyPr/>
                    <a:lstStyle/>
                    <a:p>
                      <a:pPr indent="0" marL="0">
                        <a:buNone/>
                      </a:pPr>
                      <a:r>
                        <a:rPr lang="en-US" sz="1600" b="1" dirty="0">
                          <a:solidFill>
                            <a:schemeClr val="tx1"/>
                          </a:solidFill>
                        </a:rPr>
                        <a:t>15.4.3</a:t>
                      </a:r>
                      <a:endParaRPr lang="en-US" sz="1600" dirty="0"/>
                    </a:p>
                  </a:txBody>
                  <a:tcPr marL="109728" marR="109728" marT="54864" marB="54864" anchor="ctr">
                    <a:lnL w="9525" cap="flat" cmpd="sng" algn="ctr">
                      <a:solidFill>
                        <a:srgbClr val="D5E6CF"/>
                      </a:solidFill>
                      <a:prstDash val="solid"/>
                      <a:round/>
                      <a:headEnd type="none" w="med" len="med"/>
                      <a:tailEnd type="none" w="med" len="med"/>
                    </a:lnL>
                    <a:lnR w="9525" cap="flat" cmpd="sng" algn="ctr">
                      <a:solidFill>
                        <a:srgbClr val="D5E6CF"/>
                      </a:solidFill>
                      <a:prstDash val="solid"/>
                      <a:round/>
                      <a:headEnd type="none" w="med" len="med"/>
                      <a:tailEnd type="none" w="med" len="med"/>
                    </a:lnR>
                    <a:lnT w="9525" cap="flat" cmpd="sng" algn="ctr">
                      <a:solidFill>
                        <a:srgbClr val="D5E6CF"/>
                      </a:solidFill>
                      <a:prstDash val="solid"/>
                      <a:round/>
                      <a:headEnd type="none" w="med" len="med"/>
                      <a:tailEnd type="none" w="med" len="med"/>
                    </a:lnT>
                    <a:lnB w="9525" cap="flat" cmpd="sng" algn="ctr">
                      <a:solidFill>
                        <a:srgbClr val="D5E6CF"/>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Hazardous waste storage and disposal under the IPWMP</a:t>
                      </a:r>
                      <a:endParaRPr lang="en-US" sz="1600" dirty="0"/>
                    </a:p>
                  </a:txBody>
                  <a:tcPr marL="109728" marR="109728" marT="54864" marB="54864" anchor="ctr">
                    <a:lnL w="9525" cap="flat" cmpd="sng" algn="ctr">
                      <a:solidFill>
                        <a:srgbClr val="D5E6CF"/>
                      </a:solidFill>
                      <a:prstDash val="solid"/>
                      <a:round/>
                      <a:headEnd type="none" w="med" len="med"/>
                      <a:tailEnd type="none" w="med" len="med"/>
                    </a:lnL>
                    <a:lnR w="9525" cap="flat" cmpd="sng" algn="ctr">
                      <a:solidFill>
                        <a:srgbClr val="D5E6CF"/>
                      </a:solidFill>
                      <a:prstDash val="solid"/>
                      <a:round/>
                      <a:headEnd type="none" w="med" len="med"/>
                      <a:tailEnd type="none" w="med" len="med"/>
                    </a:lnR>
                    <a:lnT w="9525" cap="flat" cmpd="sng" algn="ctr">
                      <a:solidFill>
                        <a:srgbClr val="D5E6CF"/>
                      </a:solidFill>
                      <a:prstDash val="solid"/>
                      <a:round/>
                      <a:headEnd type="none" w="med" len="med"/>
                      <a:tailEnd type="none" w="med" len="med"/>
                    </a:lnT>
                    <a:lnB w="9525" cap="flat" cmpd="sng" algn="ctr">
                      <a:solidFill>
                        <a:srgbClr val="D5E6CF"/>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Revised 2020</a:t>
                      </a:r>
                      <a:endParaRPr lang="en-US" sz="1600" dirty="0"/>
                    </a:p>
                  </a:txBody>
                  <a:tcPr marL="109728" marR="109728" marT="54864" marB="54864" anchor="ctr">
                    <a:lnL w="9525" cap="flat" cmpd="sng" algn="ctr">
                      <a:solidFill>
                        <a:srgbClr val="D5E6CF"/>
                      </a:solidFill>
                      <a:prstDash val="solid"/>
                      <a:round/>
                      <a:headEnd type="none" w="med" len="med"/>
                      <a:tailEnd type="none" w="med" len="med"/>
                    </a:lnL>
                    <a:lnR w="9525" cap="flat" cmpd="sng" algn="ctr">
                      <a:solidFill>
                        <a:srgbClr val="D5E6CF"/>
                      </a:solidFill>
                      <a:prstDash val="solid"/>
                      <a:round/>
                      <a:headEnd type="none" w="med" len="med"/>
                      <a:tailEnd type="none" w="med" len="med"/>
                    </a:lnR>
                    <a:lnT w="9525" cap="flat" cmpd="sng" algn="ctr">
                      <a:solidFill>
                        <a:srgbClr val="D5E6CF"/>
                      </a:solidFill>
                      <a:prstDash val="solid"/>
                      <a:round/>
                      <a:headEnd type="none" w="med" len="med"/>
                      <a:tailEnd type="none" w="med" len="med"/>
                    </a:lnT>
                    <a:lnB w="9525" cap="flat" cmpd="sng" algn="ctr">
                      <a:solidFill>
                        <a:srgbClr val="D5E6CF"/>
                      </a:solidFill>
                      <a:prstDash val="solid"/>
                      <a:round/>
                      <a:headEnd type="none" w="med" len="med"/>
                      <a:tailEnd type="none" w="med" len="med"/>
                    </a:lnB>
                    <a:solidFill>
                      <a:schemeClr val="bg1"/>
                    </a:solidFill>
                  </a:tcPr>
                </a:tc>
              </a:tr>
              <a:tr h="512064">
                <a:tc>
                  <a:txBody>
                    <a:bodyPr/>
                    <a:lstStyle/>
                    <a:p>
                      <a:pPr indent="0" marL="0">
                        <a:buNone/>
                      </a:pPr>
                      <a:r>
                        <a:rPr lang="en-US" sz="1600" b="1" dirty="0">
                          <a:solidFill>
                            <a:schemeClr val="tx1"/>
                          </a:solidFill>
                        </a:rPr>
                        <a:t>15.2.1</a:t>
                      </a:r>
                      <a:endParaRPr lang="en-US" sz="1600" dirty="0"/>
                    </a:p>
                  </a:txBody>
                  <a:tcPr marL="109728" marR="109728" marT="54864" marB="54864" anchor="ctr">
                    <a:lnL w="9525" cap="flat" cmpd="sng" algn="ctr">
                      <a:solidFill>
                        <a:srgbClr val="D5E6CF"/>
                      </a:solidFill>
                      <a:prstDash val="solid"/>
                      <a:round/>
                      <a:headEnd type="none" w="med" len="med"/>
                      <a:tailEnd type="none" w="med" len="med"/>
                    </a:lnL>
                    <a:lnR w="9525" cap="flat" cmpd="sng" algn="ctr">
                      <a:solidFill>
                        <a:srgbClr val="D5E6CF"/>
                      </a:solidFill>
                      <a:prstDash val="solid"/>
                      <a:round/>
                      <a:headEnd type="none" w="med" len="med"/>
                      <a:tailEnd type="none" w="med" len="med"/>
                    </a:lnR>
                    <a:lnT w="9525" cap="flat" cmpd="sng" algn="ctr">
                      <a:solidFill>
                        <a:srgbClr val="D5E6CF"/>
                      </a:solidFill>
                      <a:prstDash val="solid"/>
                      <a:round/>
                      <a:headEnd type="none" w="med" len="med"/>
                      <a:tailEnd type="none" w="med" len="med"/>
                    </a:lnT>
                    <a:lnB w="9525" cap="flat" cmpd="sng" algn="ctr">
                      <a:solidFill>
                        <a:srgbClr val="D5E6CF"/>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Graduation tree planting by CAFSD classes</a:t>
                      </a:r>
                      <a:endParaRPr lang="en-US" sz="1600" dirty="0"/>
                    </a:p>
                  </a:txBody>
                  <a:tcPr marL="109728" marR="109728" marT="54864" marB="54864" anchor="ctr">
                    <a:lnL w="9525" cap="flat" cmpd="sng" algn="ctr">
                      <a:solidFill>
                        <a:srgbClr val="D5E6CF"/>
                      </a:solidFill>
                      <a:prstDash val="solid"/>
                      <a:round/>
                      <a:headEnd type="none" w="med" len="med"/>
                      <a:tailEnd type="none" w="med" len="med"/>
                    </a:lnL>
                    <a:lnR w="9525" cap="flat" cmpd="sng" algn="ctr">
                      <a:solidFill>
                        <a:srgbClr val="D5E6CF"/>
                      </a:solidFill>
                      <a:prstDash val="solid"/>
                      <a:round/>
                      <a:headEnd type="none" w="med" len="med"/>
                      <a:tailEnd type="none" w="med" len="med"/>
                    </a:lnR>
                    <a:lnT w="9525" cap="flat" cmpd="sng" algn="ctr">
                      <a:solidFill>
                        <a:srgbClr val="D5E6CF"/>
                      </a:solidFill>
                      <a:prstDash val="solid"/>
                      <a:round/>
                      <a:headEnd type="none" w="med" len="med"/>
                      <a:tailEnd type="none" w="med" len="med"/>
                    </a:lnT>
                    <a:lnB w="9525" cap="flat" cmpd="sng" algn="ctr">
                      <a:solidFill>
                        <a:srgbClr val="D5E6CF"/>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2024, 2025, 2026</a:t>
                      </a:r>
                      <a:endParaRPr lang="en-US" sz="1600" dirty="0"/>
                    </a:p>
                  </a:txBody>
                  <a:tcPr marL="109728" marR="109728" marT="54864" marB="54864" anchor="ctr">
                    <a:lnL w="9525" cap="flat" cmpd="sng" algn="ctr">
                      <a:solidFill>
                        <a:srgbClr val="D5E6CF"/>
                      </a:solidFill>
                      <a:prstDash val="solid"/>
                      <a:round/>
                      <a:headEnd type="none" w="med" len="med"/>
                      <a:tailEnd type="none" w="med" len="med"/>
                    </a:lnL>
                    <a:lnR w="9525" cap="flat" cmpd="sng" algn="ctr">
                      <a:solidFill>
                        <a:srgbClr val="D5E6CF"/>
                      </a:solidFill>
                      <a:prstDash val="solid"/>
                      <a:round/>
                      <a:headEnd type="none" w="med" len="med"/>
                      <a:tailEnd type="none" w="med" len="med"/>
                    </a:lnR>
                    <a:lnT w="9525" cap="flat" cmpd="sng" algn="ctr">
                      <a:solidFill>
                        <a:srgbClr val="D5E6CF"/>
                      </a:solidFill>
                      <a:prstDash val="solid"/>
                      <a:round/>
                      <a:headEnd type="none" w="med" len="med"/>
                      <a:tailEnd type="none" w="med" len="med"/>
                    </a:lnT>
                    <a:lnB w="9525" cap="flat" cmpd="sng" algn="ctr">
                      <a:solidFill>
                        <a:srgbClr val="D5E6CF"/>
                      </a:solidFill>
                      <a:prstDash val="solid"/>
                      <a:round/>
                      <a:headEnd type="none" w="med" len="med"/>
                      <a:tailEnd type="none" w="med" len="med"/>
                    </a:lnB>
                    <a:solidFill>
                      <a:schemeClr val="bg1"/>
                    </a:solidFill>
                  </a:tcPr>
                </a:tc>
              </a:tr>
              <a:tr h="512064">
                <a:tc>
                  <a:txBody>
                    <a:bodyPr/>
                    <a:lstStyle/>
                    <a:p>
                      <a:pPr indent="0" marL="0">
                        <a:buNone/>
                      </a:pPr>
                      <a:r>
                        <a:rPr lang="en-US" sz="1600" b="1" dirty="0">
                          <a:solidFill>
                            <a:schemeClr val="tx1"/>
                          </a:solidFill>
                        </a:rPr>
                        <a:t>15.2.3</a:t>
                      </a:r>
                      <a:endParaRPr lang="en-US" sz="1600" dirty="0"/>
                    </a:p>
                  </a:txBody>
                  <a:tcPr marL="109728" marR="109728" marT="54864" marB="54864" anchor="ctr">
                    <a:lnL w="9525" cap="flat" cmpd="sng" algn="ctr">
                      <a:solidFill>
                        <a:srgbClr val="D5E6CF"/>
                      </a:solidFill>
                      <a:prstDash val="solid"/>
                      <a:round/>
                      <a:headEnd type="none" w="med" len="med"/>
                      <a:tailEnd type="none" w="med" len="med"/>
                    </a:lnL>
                    <a:lnR w="9525" cap="flat" cmpd="sng" algn="ctr">
                      <a:solidFill>
                        <a:srgbClr val="D5E6CF"/>
                      </a:solidFill>
                      <a:prstDash val="solid"/>
                      <a:round/>
                      <a:headEnd type="none" w="med" len="med"/>
                      <a:tailEnd type="none" w="med" len="med"/>
                    </a:lnR>
                    <a:lnT w="9525" cap="flat" cmpd="sng" algn="ctr">
                      <a:solidFill>
                        <a:srgbClr val="D5E6CF"/>
                      </a:solidFill>
                      <a:prstDash val="solid"/>
                      <a:round/>
                      <a:headEnd type="none" w="med" len="med"/>
                      <a:tailEnd type="none" w="med" len="med"/>
                    </a:lnT>
                    <a:lnB w="9525" cap="flat" cmpd="sng" algn="ctr">
                      <a:solidFill>
                        <a:srgbClr val="D5E6CF"/>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Mangrove nature-based solutions project, Badoc and Currimao</a:t>
                      </a:r>
                      <a:endParaRPr lang="en-US" sz="1600" dirty="0"/>
                    </a:p>
                  </a:txBody>
                  <a:tcPr marL="109728" marR="109728" marT="54864" marB="54864" anchor="ctr">
                    <a:lnL w="9525" cap="flat" cmpd="sng" algn="ctr">
                      <a:solidFill>
                        <a:srgbClr val="D5E6CF"/>
                      </a:solidFill>
                      <a:prstDash val="solid"/>
                      <a:round/>
                      <a:headEnd type="none" w="med" len="med"/>
                      <a:tailEnd type="none" w="med" len="med"/>
                    </a:lnL>
                    <a:lnR w="9525" cap="flat" cmpd="sng" algn="ctr">
                      <a:solidFill>
                        <a:srgbClr val="D5E6CF"/>
                      </a:solidFill>
                      <a:prstDash val="solid"/>
                      <a:round/>
                      <a:headEnd type="none" w="med" len="med"/>
                      <a:tailEnd type="none" w="med" len="med"/>
                    </a:lnR>
                    <a:lnT w="9525" cap="flat" cmpd="sng" algn="ctr">
                      <a:solidFill>
                        <a:srgbClr val="D5E6CF"/>
                      </a:solidFill>
                      <a:prstDash val="solid"/>
                      <a:round/>
                      <a:headEnd type="none" w="med" len="med"/>
                      <a:tailEnd type="none" w="med" len="med"/>
                    </a:lnT>
                    <a:lnB w="9525" cap="flat" cmpd="sng" algn="ctr">
                      <a:solidFill>
                        <a:srgbClr val="D5E6CF"/>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Jun 2024 to Apr 2026</a:t>
                      </a:r>
                      <a:endParaRPr lang="en-US" sz="1600" dirty="0"/>
                    </a:p>
                  </a:txBody>
                  <a:tcPr marL="109728" marR="109728" marT="54864" marB="54864" anchor="ctr">
                    <a:lnL w="9525" cap="flat" cmpd="sng" algn="ctr">
                      <a:solidFill>
                        <a:srgbClr val="D5E6CF"/>
                      </a:solidFill>
                      <a:prstDash val="solid"/>
                      <a:round/>
                      <a:headEnd type="none" w="med" len="med"/>
                      <a:tailEnd type="none" w="med" len="med"/>
                    </a:lnL>
                    <a:lnR w="9525" cap="flat" cmpd="sng" algn="ctr">
                      <a:solidFill>
                        <a:srgbClr val="D5E6CF"/>
                      </a:solidFill>
                      <a:prstDash val="solid"/>
                      <a:round/>
                      <a:headEnd type="none" w="med" len="med"/>
                      <a:tailEnd type="none" w="med" len="med"/>
                    </a:lnR>
                    <a:lnT w="9525" cap="flat" cmpd="sng" algn="ctr">
                      <a:solidFill>
                        <a:srgbClr val="D5E6CF"/>
                      </a:solidFill>
                      <a:prstDash val="solid"/>
                      <a:round/>
                      <a:headEnd type="none" w="med" len="med"/>
                      <a:tailEnd type="none" w="med" len="med"/>
                    </a:lnT>
                    <a:lnB w="9525" cap="flat" cmpd="sng" algn="ctr">
                      <a:solidFill>
                        <a:srgbClr val="D5E6CF"/>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548640" y="5715000"/>
            <a:ext cx="11064240" cy="502920"/>
          </a:xfrm>
          <a:prstGeom prst="rect">
            <a:avLst/>
          </a:prstGeom>
          <a:noFill/>
          <a:ln/>
        </p:spPr>
        <p:txBody>
          <a:bodyPr wrap="square" lIns="0" tIns="0" rIns="0" bIns="0" rtlCol="0" anchor="t"/>
          <a:lstStyle/>
          <a:p>
            <a:pPr indent="0" marL="0">
              <a:buNone/>
            </a:pPr>
            <a:r>
              <a:rPr lang="en-US" sz="1600" b="1" dirty="0">
                <a:solidFill>
                  <a:schemeClr val="accent3"/>
                </a:solidFill>
              </a:rPr>
              <a:t>Catch: </a:t>
            </a:r>
            <a:pPr indent="0" marL="0">
              <a:buNone/>
            </a:pPr>
            <a:r>
              <a:rPr lang="en-US" sz="1600" dirty="0">
                <a:solidFill>
                  <a:schemeClr val="tx1"/>
                </a:solidFill>
              </a:rPr>
              <a:t>THE adds a point for a policy created or reviewed inside its window, so each older policy needs a 2025 review or reiteration.</a:t>
            </a:r>
            <a:endParaRPr lang="en-US" sz="16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lIns="0" tIns="0" rIns="0" bIns="0" rtlCol="0" anchor="ctr"/>
          <a:lstStyle/>
          <a:p>
            <a:pPr algn="l" indent="0" marL="0">
              <a:buNone/>
            </a:pPr>
            <a:r>
              <a:rPr lang="en-US" sz="3400" b="1" dirty="0">
                <a:solidFill>
                  <a:schemeClr val="tx2"/>
                </a:solidFill>
              </a:rPr>
              <a:t>No Bottled Water: what shows it is applied</a:t>
            </a:r>
            <a:endParaRPr lang="en-US" sz="3400" dirty="0"/>
          </a:p>
        </p:txBody>
      </p:sp>
      <p:sp>
        <p:nvSpPr>
          <p:cNvPr id="3" name="Evidence card Public article"/>
          <p:cNvSpPr/>
          <p:nvPr/>
        </p:nvSpPr>
        <p:spPr>
          <a:xfrm>
            <a:off x="548640" y="1463040"/>
            <a:ext cx="3520440" cy="3566160"/>
          </a:xfrm>
          <a:prstGeom prst="roundRect">
            <a:avLst>
              <a:gd name="adj" fmla="val 3117"/>
            </a:avLst>
          </a:prstGeom>
          <a:solidFill>
            <a:schemeClr val="bg2"/>
          </a:solidFill>
          <a:ln w="12700">
            <a:solidFill>
              <a:schemeClr val="bg2"/>
            </a:solidFill>
            <a:prstDash val="solid"/>
          </a:ln>
        </p:spPr>
      </p:sp>
      <p:sp>
        <p:nvSpPr>
          <p:cNvPr id="4" name="Public article badge"/>
          <p:cNvSpPr/>
          <p:nvPr/>
        </p:nvSpPr>
        <p:spPr>
          <a:xfrm>
            <a:off x="777240" y="1691640"/>
            <a:ext cx="731520" cy="731520"/>
          </a:xfrm>
          <a:prstGeom prst="ellipse">
            <a:avLst/>
          </a:prstGeom>
          <a:solidFill>
            <a:schemeClr val="accent1"/>
          </a:solidFill>
          <a:ln w="12700">
            <a:solidFill>
              <a:schemeClr val="accent1"/>
            </a:solidFill>
            <a:prstDash val="solid"/>
          </a:ln>
        </p:spPr>
      </p:sp>
      <p:pic>
        <p:nvPicPr>
          <p:cNvPr id="5" name="Public article icon" descr="Public article">    </p:cNvPr>
          <p:cNvPicPr>
            <a:picLocks noChangeAspect="1"/>
          </p:cNvPicPr>
          <p:nvPr/>
        </p:nvPicPr>
        <p:blipFill>
          <a:blip r:embed="rId1"/>
          <a:stretch>
            <a:fillRect/>
          </a:stretch>
        </p:blipFill>
        <p:spPr>
          <a:xfrm>
            <a:off x="967435" y="1881835"/>
            <a:ext cx="351130" cy="351130"/>
          </a:xfrm>
          <a:prstGeom prst="rect">
            <a:avLst/>
          </a:prstGeom>
        </p:spPr>
      </p:pic>
      <p:sp>
        <p:nvSpPr>
          <p:cNvPr id="6" name="Text 3"/>
          <p:cNvSpPr txBox="1"/>
          <p:nvPr/>
        </p:nvSpPr>
        <p:spPr>
          <a:xfrm>
            <a:off x="777240" y="2560320"/>
            <a:ext cx="3063240" cy="411480"/>
          </a:xfrm>
          <a:prstGeom prst="rect">
            <a:avLst/>
          </a:prstGeom>
          <a:noFill/>
          <a:ln/>
        </p:spPr>
        <p:txBody>
          <a:bodyPr wrap="square" lIns="0" tIns="0" rIns="0" bIns="0" rtlCol="0" anchor="t"/>
          <a:lstStyle/>
          <a:p>
            <a:pPr indent="0" marL="0">
              <a:buNone/>
            </a:pPr>
            <a:r>
              <a:rPr lang="en-US" sz="2000" b="1" dirty="0">
                <a:solidFill>
                  <a:schemeClr val="tx2"/>
                </a:solidFill>
              </a:rPr>
              <a:t>Public article</a:t>
            </a:r>
            <a:endParaRPr lang="en-US" sz="2000" dirty="0"/>
          </a:p>
        </p:txBody>
      </p:sp>
      <p:sp>
        <p:nvSpPr>
          <p:cNvPr id="7" name="Text 4"/>
          <p:cNvSpPr txBox="1"/>
          <p:nvPr/>
        </p:nvSpPr>
        <p:spPr>
          <a:xfrm>
            <a:off x="777240" y="3017520"/>
            <a:ext cx="3063240" cy="1920240"/>
          </a:xfrm>
          <a:prstGeom prst="rect">
            <a:avLst/>
          </a:prstGeom>
          <a:noFill/>
          <a:ln/>
        </p:spPr>
        <p:txBody>
          <a:bodyPr wrap="square" lIns="0" tIns="0" rIns="0" bIns="0" rtlCol="0" anchor="t"/>
          <a:lstStyle/>
          <a:p>
            <a:pPr indent="0" marL="0">
              <a:buNone/>
            </a:pPr>
            <a:r>
              <a:rPr lang="en-US" sz="1500" dirty="0">
                <a:solidFill>
                  <a:schemeClr val="tx1"/>
                </a:solidFill>
              </a:rPr>
              <a:t>CAFSD Waste and Pollution Management launch, 15 October 2024: plastic bottled water banned in its auxiliary building; reusable tumblers encouraged.</a:t>
            </a:r>
            <a:endParaRPr lang="en-US" sz="1500" dirty="0"/>
          </a:p>
        </p:txBody>
      </p:sp>
      <p:sp>
        <p:nvSpPr>
          <p:cNvPr id="8" name="Evidence card Facebook posts MMSU cites"/>
          <p:cNvSpPr/>
          <p:nvPr/>
        </p:nvSpPr>
        <p:spPr>
          <a:xfrm>
            <a:off x="4343400" y="1463040"/>
            <a:ext cx="3520440" cy="3566160"/>
          </a:xfrm>
          <a:prstGeom prst="roundRect">
            <a:avLst>
              <a:gd name="adj" fmla="val 3117"/>
            </a:avLst>
          </a:prstGeom>
          <a:solidFill>
            <a:schemeClr val="bg2"/>
          </a:solidFill>
          <a:ln w="12700">
            <a:solidFill>
              <a:schemeClr val="bg2"/>
            </a:solidFill>
            <a:prstDash val="solid"/>
          </a:ln>
        </p:spPr>
      </p:sp>
      <p:sp>
        <p:nvSpPr>
          <p:cNvPr id="9" name="Facebook posts MMSU cites badge"/>
          <p:cNvSpPr/>
          <p:nvPr/>
        </p:nvSpPr>
        <p:spPr>
          <a:xfrm>
            <a:off x="4572000" y="1691640"/>
            <a:ext cx="731520" cy="731520"/>
          </a:xfrm>
          <a:prstGeom prst="ellipse">
            <a:avLst/>
          </a:prstGeom>
          <a:solidFill>
            <a:schemeClr val="accent1"/>
          </a:solidFill>
          <a:ln w="12700">
            <a:solidFill>
              <a:schemeClr val="accent1"/>
            </a:solidFill>
            <a:prstDash val="solid"/>
          </a:ln>
        </p:spPr>
      </p:sp>
      <p:pic>
        <p:nvPicPr>
          <p:cNvPr id="10" name="Facebook posts MMSU cites icon" descr="Facebook posts MMSU cites">    </p:cNvPr>
          <p:cNvPicPr>
            <a:picLocks noChangeAspect="1"/>
          </p:cNvPicPr>
          <p:nvPr/>
        </p:nvPicPr>
        <p:blipFill>
          <a:blip r:embed="rId2"/>
          <a:stretch>
            <a:fillRect/>
          </a:stretch>
        </p:blipFill>
        <p:spPr>
          <a:xfrm>
            <a:off x="4762195" y="1881835"/>
            <a:ext cx="351130" cy="351130"/>
          </a:xfrm>
          <a:prstGeom prst="rect">
            <a:avLst/>
          </a:prstGeom>
        </p:spPr>
      </p:pic>
      <p:sp>
        <p:nvSpPr>
          <p:cNvPr id="11" name="Text 7"/>
          <p:cNvSpPr txBox="1"/>
          <p:nvPr/>
        </p:nvSpPr>
        <p:spPr>
          <a:xfrm>
            <a:off x="4572000" y="2560320"/>
            <a:ext cx="3063240" cy="411480"/>
          </a:xfrm>
          <a:prstGeom prst="rect">
            <a:avLst/>
          </a:prstGeom>
          <a:noFill/>
          <a:ln/>
        </p:spPr>
        <p:txBody>
          <a:bodyPr wrap="square" lIns="0" tIns="0" rIns="0" bIns="0" rtlCol="0" anchor="t"/>
          <a:lstStyle/>
          <a:p>
            <a:pPr indent="0" marL="0">
              <a:buNone/>
            </a:pPr>
            <a:r>
              <a:rPr lang="en-US" sz="2000" b="1" dirty="0">
                <a:solidFill>
                  <a:schemeClr val="tx2"/>
                </a:solidFill>
              </a:rPr>
              <a:t>Facebook posts MMSU cites</a:t>
            </a:r>
            <a:endParaRPr lang="en-US" sz="2000" dirty="0"/>
          </a:p>
        </p:txBody>
      </p:sp>
      <p:sp>
        <p:nvSpPr>
          <p:cNvPr id="12" name="Text 8"/>
          <p:cNvSpPr txBox="1"/>
          <p:nvPr/>
        </p:nvSpPr>
        <p:spPr>
          <a:xfrm>
            <a:off x="4572000" y="3017520"/>
            <a:ext cx="3063240" cy="1920240"/>
          </a:xfrm>
          <a:prstGeom prst="rect">
            <a:avLst/>
          </a:prstGeom>
          <a:noFill/>
          <a:ln/>
        </p:spPr>
        <p:txBody>
          <a:bodyPr wrap="square" lIns="0" tIns="0" rIns="0" bIns="0" rtlCol="0" anchor="t"/>
          <a:lstStyle/>
          <a:p>
            <a:pPr indent="0" marL="0">
              <a:buNone/>
            </a:pPr>
            <a:r>
              <a:rPr lang="en-US" sz="1500" dirty="0">
                <a:solidFill>
                  <a:schemeClr val="tx1"/>
                </a:solidFill>
              </a:rPr>
              <a:t>CCIS SipSmart campaign, BioCircle Society refilling station, hydration stations of academic units. Behind a login, so screenshots with dates are needed.</a:t>
            </a:r>
            <a:endParaRPr lang="en-US" sz="1500" dirty="0"/>
          </a:p>
        </p:txBody>
      </p:sp>
      <p:sp>
        <p:nvSpPr>
          <p:cNvPr id="13" name="Evidence card Presidential memos"/>
          <p:cNvSpPr/>
          <p:nvPr/>
        </p:nvSpPr>
        <p:spPr>
          <a:xfrm>
            <a:off x="8138160" y="1463040"/>
            <a:ext cx="3520440" cy="3566160"/>
          </a:xfrm>
          <a:prstGeom prst="roundRect">
            <a:avLst>
              <a:gd name="adj" fmla="val 3117"/>
            </a:avLst>
          </a:prstGeom>
          <a:solidFill>
            <a:schemeClr val="bg2"/>
          </a:solidFill>
          <a:ln w="12700">
            <a:solidFill>
              <a:schemeClr val="bg2"/>
            </a:solidFill>
            <a:prstDash val="solid"/>
          </a:ln>
        </p:spPr>
      </p:sp>
      <p:sp>
        <p:nvSpPr>
          <p:cNvPr id="14" name="Presidential memos badge"/>
          <p:cNvSpPr/>
          <p:nvPr/>
        </p:nvSpPr>
        <p:spPr>
          <a:xfrm>
            <a:off x="8366760" y="1691640"/>
            <a:ext cx="731520" cy="731520"/>
          </a:xfrm>
          <a:prstGeom prst="ellipse">
            <a:avLst/>
          </a:prstGeom>
          <a:solidFill>
            <a:schemeClr val="accent1"/>
          </a:solidFill>
          <a:ln w="12700">
            <a:solidFill>
              <a:schemeClr val="accent1"/>
            </a:solidFill>
            <a:prstDash val="solid"/>
          </a:ln>
        </p:spPr>
      </p:sp>
      <p:pic>
        <p:nvPicPr>
          <p:cNvPr id="15" name="Presidential memos icon" descr="Presidential memos">    </p:cNvPr>
          <p:cNvPicPr>
            <a:picLocks noChangeAspect="1"/>
          </p:cNvPicPr>
          <p:nvPr/>
        </p:nvPicPr>
        <p:blipFill>
          <a:blip r:embed="rId3"/>
          <a:stretch>
            <a:fillRect/>
          </a:stretch>
        </p:blipFill>
        <p:spPr>
          <a:xfrm>
            <a:off x="8556955" y="1881835"/>
            <a:ext cx="351130" cy="351130"/>
          </a:xfrm>
          <a:prstGeom prst="rect">
            <a:avLst/>
          </a:prstGeom>
        </p:spPr>
      </p:pic>
      <p:sp>
        <p:nvSpPr>
          <p:cNvPr id="16" name="Text 11"/>
          <p:cNvSpPr txBox="1"/>
          <p:nvPr/>
        </p:nvSpPr>
        <p:spPr>
          <a:xfrm>
            <a:off x="8366760" y="2560320"/>
            <a:ext cx="3063240" cy="411480"/>
          </a:xfrm>
          <a:prstGeom prst="rect">
            <a:avLst/>
          </a:prstGeom>
          <a:noFill/>
          <a:ln/>
        </p:spPr>
        <p:txBody>
          <a:bodyPr wrap="square" lIns="0" tIns="0" rIns="0" bIns="0" rtlCol="0" anchor="t"/>
          <a:lstStyle/>
          <a:p>
            <a:pPr indent="0" marL="0">
              <a:buNone/>
            </a:pPr>
            <a:r>
              <a:rPr lang="en-US" sz="2000" b="1" dirty="0">
                <a:solidFill>
                  <a:schemeClr val="tx2"/>
                </a:solidFill>
              </a:rPr>
              <a:t>Presidential memos</a:t>
            </a:r>
            <a:endParaRPr lang="en-US" sz="2000" dirty="0"/>
          </a:p>
        </p:txBody>
      </p:sp>
      <p:sp>
        <p:nvSpPr>
          <p:cNvPr id="17" name="Text 12"/>
          <p:cNvSpPr txBox="1"/>
          <p:nvPr/>
        </p:nvSpPr>
        <p:spPr>
          <a:xfrm>
            <a:off x="8366760" y="3017520"/>
            <a:ext cx="3063240" cy="1920240"/>
          </a:xfrm>
          <a:prstGeom prst="rect">
            <a:avLst/>
          </a:prstGeom>
          <a:noFill/>
          <a:ln/>
        </p:spPr>
        <p:txBody>
          <a:bodyPr wrap="square" lIns="0" tIns="0" rIns="0" bIns="0" rtlCol="0" anchor="t"/>
          <a:lstStyle/>
          <a:p>
            <a:pPr indent="0" marL="0">
              <a:buNone/>
            </a:pPr>
            <a:r>
              <a:rPr lang="en-US" sz="1500" dirty="0">
                <a:solidFill>
                  <a:schemeClr val="tx1"/>
                </a:solidFill>
              </a:rPr>
              <a:t>OP Memo 24-075 (16 Feb 2024) and 24-088 (29 Feb 2024) tell employees to bring their own tumbler or water bottle.</a:t>
            </a:r>
            <a:endParaRPr lang="en-US" sz="1500" dirty="0"/>
          </a:p>
        </p:txBody>
      </p:sp>
      <p:sp>
        <p:nvSpPr>
          <p:cNvPr id="18" name="Missing card"/>
          <p:cNvSpPr/>
          <p:nvPr/>
        </p:nvSpPr>
        <p:spPr>
          <a:xfrm>
            <a:off x="548640" y="5257800"/>
            <a:ext cx="11064240" cy="914400"/>
          </a:xfrm>
          <a:prstGeom prst="roundRect">
            <a:avLst>
              <a:gd name="adj" fmla="val 12000"/>
            </a:avLst>
          </a:prstGeom>
          <a:solidFill>
            <a:srgbClr val="FDF1E3"/>
          </a:solidFill>
          <a:ln w="12700">
            <a:solidFill>
              <a:srgbClr val="FDF1E3"/>
            </a:solidFill>
            <a:prstDash val="solid"/>
          </a:ln>
        </p:spPr>
      </p:sp>
      <p:sp>
        <p:nvSpPr>
          <p:cNvPr id="19" name="Text 14"/>
          <p:cNvSpPr txBox="1"/>
          <p:nvPr/>
        </p:nvSpPr>
        <p:spPr>
          <a:xfrm>
            <a:off x="777240" y="5349240"/>
            <a:ext cx="10607040" cy="731520"/>
          </a:xfrm>
          <a:prstGeom prst="rect">
            <a:avLst/>
          </a:prstGeom>
          <a:noFill/>
          <a:ln/>
        </p:spPr>
        <p:txBody>
          <a:bodyPr wrap="square" lIns="0" tIns="0" rIns="0" bIns="0" rtlCol="0" anchor="ctr"/>
          <a:lstStyle/>
          <a:p>
            <a:pPr indent="0" marL="0">
              <a:buNone/>
            </a:pPr>
            <a:r>
              <a:rPr lang="en-US" sz="1600" b="1" dirty="0">
                <a:solidFill>
                  <a:schemeClr val="accent3"/>
                </a:solidFill>
              </a:rPr>
              <a:t>Missing: </a:t>
            </a:r>
            <a:pPr indent="0" marL="0">
              <a:buNone/>
            </a:pPr>
            <a:r>
              <a:rPr lang="en-US" sz="1600" dirty="0">
                <a:solidFill>
                  <a:schemeClr val="tx1"/>
                </a:solidFill>
              </a:rPr>
              <a:t>the 2024 and 2025 reiterations of the policy and Administrative Council minutes. No public post covers the 2022 or 2023 memoranda themselves.</a:t>
            </a:r>
            <a:endParaRPr lang="en-US" sz="16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lIns="0" tIns="0" rIns="0" bIns="0" rtlCol="0" anchor="ctr"/>
          <a:lstStyle/>
          <a:p>
            <a:pPr algn="l" indent="0" marL="0">
              <a:buNone/>
            </a:pPr>
            <a:r>
              <a:rPr lang="en-US" sz="3400" b="1" dirty="0">
                <a:solidFill>
                  <a:schemeClr val="tx2"/>
                </a:solidFill>
              </a:rPr>
              <a:t>Four gaps and four risks to settle</a:t>
            </a:r>
            <a:endParaRPr lang="en-US" sz="3400" dirty="0"/>
          </a:p>
        </p:txBody>
      </p:sp>
      <p:sp>
        <p:nvSpPr>
          <p:cNvPr id="3" name="Gaps card"/>
          <p:cNvSpPr/>
          <p:nvPr/>
        </p:nvSpPr>
        <p:spPr>
          <a:xfrm>
            <a:off x="548640" y="1417320"/>
            <a:ext cx="5349240" cy="4754880"/>
          </a:xfrm>
          <a:prstGeom prst="roundRect">
            <a:avLst>
              <a:gd name="adj" fmla="val 2308"/>
            </a:avLst>
          </a:prstGeom>
          <a:solidFill>
            <a:schemeClr val="bg2"/>
          </a:solidFill>
          <a:ln w="12700">
            <a:solidFill>
              <a:schemeClr val="bg2"/>
            </a:solidFill>
            <a:prstDash val="solid"/>
          </a:ln>
        </p:spPr>
      </p:sp>
      <p:sp>
        <p:nvSpPr>
          <p:cNvPr id="4" name="Gaps badge"/>
          <p:cNvSpPr/>
          <p:nvPr/>
        </p:nvSpPr>
        <p:spPr>
          <a:xfrm>
            <a:off x="822960" y="1645920"/>
            <a:ext cx="640080" cy="640080"/>
          </a:xfrm>
          <a:prstGeom prst="ellipse">
            <a:avLst/>
          </a:prstGeom>
          <a:solidFill>
            <a:schemeClr val="accent3"/>
          </a:solidFill>
          <a:ln w="12700">
            <a:solidFill>
              <a:schemeClr val="accent3"/>
            </a:solidFill>
            <a:prstDash val="solid"/>
          </a:ln>
        </p:spPr>
      </p:sp>
      <p:pic>
        <p:nvPicPr>
          <p:cNvPr id="5" name="Gaps icon" descr="Gaps">    </p:cNvPr>
          <p:cNvPicPr>
            <a:picLocks noChangeAspect="1"/>
          </p:cNvPicPr>
          <p:nvPr/>
        </p:nvPicPr>
        <p:blipFill>
          <a:blip r:embed="rId1"/>
          <a:stretch>
            <a:fillRect/>
          </a:stretch>
        </p:blipFill>
        <p:spPr>
          <a:xfrm>
            <a:off x="989381" y="1812341"/>
            <a:ext cx="307238" cy="307238"/>
          </a:xfrm>
          <a:prstGeom prst="rect">
            <a:avLst/>
          </a:prstGeom>
        </p:spPr>
      </p:pic>
      <p:sp>
        <p:nvSpPr>
          <p:cNvPr id="6" name="Text 3"/>
          <p:cNvSpPr txBox="1"/>
          <p:nvPr/>
        </p:nvSpPr>
        <p:spPr>
          <a:xfrm>
            <a:off x="1645920" y="1691640"/>
            <a:ext cx="3200400" cy="548640"/>
          </a:xfrm>
          <a:prstGeom prst="rect">
            <a:avLst/>
          </a:prstGeom>
          <a:noFill/>
          <a:ln/>
        </p:spPr>
        <p:txBody>
          <a:bodyPr wrap="square" lIns="0" tIns="0" rIns="0" bIns="0" rtlCol="0" anchor="ctr"/>
          <a:lstStyle/>
          <a:p>
            <a:pPr indent="0" marL="0">
              <a:buNone/>
            </a:pPr>
            <a:r>
              <a:rPr lang="en-US" sz="2600" b="1" dirty="0">
                <a:solidFill>
                  <a:schemeClr val="tx2"/>
                </a:solidFill>
                <a:latin typeface="+mj-lt" pitchFamily="34" charset="0"/>
                <a:ea typeface="+mj-lt" pitchFamily="34" charset="-122"/>
                <a:cs typeface="+mj-lt" pitchFamily="34" charset="-120"/>
              </a:rPr>
              <a:t>Gaps</a:t>
            </a:r>
            <a:endParaRPr lang="en-US" sz="2600" dirty="0"/>
          </a:p>
        </p:txBody>
      </p:sp>
      <p:sp>
        <p:nvSpPr>
          <p:cNvPr id="7" name="Text 4"/>
          <p:cNvSpPr txBox="1"/>
          <p:nvPr/>
        </p:nvSpPr>
        <p:spPr>
          <a:xfrm>
            <a:off x="822960" y="2514600"/>
            <a:ext cx="1371600" cy="365760"/>
          </a:xfrm>
          <a:prstGeom prst="rect">
            <a:avLst/>
          </a:prstGeom>
          <a:noFill/>
          <a:ln/>
        </p:spPr>
        <p:txBody>
          <a:bodyPr wrap="square" lIns="0" tIns="0" rIns="0" bIns="0" rtlCol="0" anchor="t"/>
          <a:lstStyle/>
          <a:p>
            <a:pPr indent="0" marL="0">
              <a:buNone/>
            </a:pPr>
            <a:r>
              <a:rPr lang="en-US" sz="1700" b="1" dirty="0">
                <a:solidFill>
                  <a:schemeClr val="accent3"/>
                </a:solidFill>
              </a:rPr>
              <a:t>15.2.2</a:t>
            </a:r>
            <a:endParaRPr lang="en-US" sz="1700" dirty="0"/>
          </a:p>
        </p:txBody>
      </p:sp>
      <p:sp>
        <p:nvSpPr>
          <p:cNvPr id="8" name="Text 5"/>
          <p:cNvSpPr txBox="1"/>
          <p:nvPr/>
        </p:nvSpPr>
        <p:spPr>
          <a:xfrm>
            <a:off x="2240280" y="2514600"/>
            <a:ext cx="3383280" cy="822960"/>
          </a:xfrm>
          <a:prstGeom prst="rect">
            <a:avLst/>
          </a:prstGeom>
          <a:noFill/>
          <a:ln/>
        </p:spPr>
        <p:txBody>
          <a:bodyPr wrap="square" lIns="0" tIns="0" rIns="0" bIns="0" rtlCol="0" anchor="t"/>
          <a:lstStyle/>
          <a:p>
            <a:pPr indent="0" marL="0">
              <a:buNone/>
            </a:pPr>
            <a:r>
              <a:rPr lang="en-US" sz="1500" dirty="0">
                <a:solidFill>
                  <a:schemeClr val="tx1"/>
                </a:solidFill>
              </a:rPr>
              <a:t>Needs a policy on sustainably farmed campus food. Our farm practices do not replace it.</a:t>
            </a:r>
            <a:endParaRPr lang="en-US" sz="1500" dirty="0"/>
          </a:p>
        </p:txBody>
      </p:sp>
      <p:sp>
        <p:nvSpPr>
          <p:cNvPr id="9" name="Text 6"/>
          <p:cNvSpPr txBox="1"/>
          <p:nvPr/>
        </p:nvSpPr>
        <p:spPr>
          <a:xfrm>
            <a:off x="822960" y="3429000"/>
            <a:ext cx="1371600" cy="365760"/>
          </a:xfrm>
          <a:prstGeom prst="rect">
            <a:avLst/>
          </a:prstGeom>
          <a:noFill/>
          <a:ln/>
        </p:spPr>
        <p:txBody>
          <a:bodyPr wrap="square" lIns="0" tIns="0" rIns="0" bIns="0" rtlCol="0" anchor="t"/>
          <a:lstStyle/>
          <a:p>
            <a:pPr indent="0" marL="0">
              <a:buNone/>
            </a:pPr>
            <a:r>
              <a:rPr lang="en-US" sz="1700" b="1" dirty="0">
                <a:solidFill>
                  <a:schemeClr val="accent3"/>
                </a:solidFill>
              </a:rPr>
              <a:t>15.2.6</a:t>
            </a:r>
            <a:endParaRPr lang="en-US" sz="1700" dirty="0"/>
          </a:p>
        </p:txBody>
      </p:sp>
      <p:sp>
        <p:nvSpPr>
          <p:cNvPr id="10" name="Text 7"/>
          <p:cNvSpPr txBox="1"/>
          <p:nvPr/>
        </p:nvSpPr>
        <p:spPr>
          <a:xfrm>
            <a:off x="2240280" y="3429000"/>
            <a:ext cx="3383280" cy="822960"/>
          </a:xfrm>
          <a:prstGeom prst="rect">
            <a:avLst/>
          </a:prstGeom>
          <a:noFill/>
          <a:ln/>
        </p:spPr>
        <p:txBody>
          <a:bodyPr wrap="square" lIns="0" tIns="0" rIns="0" bIns="0" rtlCol="0" anchor="t"/>
          <a:lstStyle/>
          <a:p>
            <a:pPr indent="0" marL="0">
              <a:buNone/>
            </a:pPr>
            <a:r>
              <a:rPr lang="en-US" sz="1500" dirty="0">
                <a:solidFill>
                  <a:schemeClr val="tx1"/>
                </a:solidFill>
              </a:rPr>
              <a:t>No 2025 community programme on land management for tourism.</a:t>
            </a:r>
            <a:endParaRPr lang="en-US" sz="1500" dirty="0"/>
          </a:p>
        </p:txBody>
      </p:sp>
      <p:sp>
        <p:nvSpPr>
          <p:cNvPr id="11" name="Text 8"/>
          <p:cNvSpPr txBox="1"/>
          <p:nvPr/>
        </p:nvSpPr>
        <p:spPr>
          <a:xfrm>
            <a:off x="822960" y="4343400"/>
            <a:ext cx="1371600" cy="365760"/>
          </a:xfrm>
          <a:prstGeom prst="rect">
            <a:avLst/>
          </a:prstGeom>
          <a:noFill/>
          <a:ln/>
        </p:spPr>
        <p:txBody>
          <a:bodyPr wrap="square" lIns="0" tIns="0" rIns="0" bIns="0" rtlCol="0" anchor="t"/>
          <a:lstStyle/>
          <a:p>
            <a:pPr indent="0" marL="0">
              <a:buNone/>
            </a:pPr>
            <a:r>
              <a:rPr lang="en-US" sz="1700" b="1" dirty="0">
                <a:solidFill>
                  <a:schemeClr val="accent3"/>
                </a:solidFill>
              </a:rPr>
              <a:t>15.3.2</a:t>
            </a:r>
            <a:endParaRPr lang="en-US" sz="1700" dirty="0"/>
          </a:p>
        </p:txBody>
      </p:sp>
      <p:sp>
        <p:nvSpPr>
          <p:cNvPr id="12" name="Text 9"/>
          <p:cNvSpPr txBox="1"/>
          <p:nvPr/>
        </p:nvSpPr>
        <p:spPr>
          <a:xfrm>
            <a:off x="2240280" y="4343400"/>
            <a:ext cx="3383280" cy="822960"/>
          </a:xfrm>
          <a:prstGeom prst="rect">
            <a:avLst/>
          </a:prstGeom>
          <a:noFill/>
          <a:ln/>
        </p:spPr>
        <p:txBody>
          <a:bodyPr wrap="square" lIns="0" tIns="0" rIns="0" bIns="0" rtlCol="0" anchor="t"/>
          <a:lstStyle/>
          <a:p>
            <a:pPr indent="0" marL="0">
              <a:buNone/>
            </a:pPr>
            <a:r>
              <a:rPr lang="en-US" sz="1500" dirty="0">
                <a:solidFill>
                  <a:schemeClr val="tx1"/>
                </a:solidFill>
              </a:rPr>
              <a:t>No threatened-species policy or register.</a:t>
            </a:r>
            <a:endParaRPr lang="en-US" sz="1500" dirty="0"/>
          </a:p>
        </p:txBody>
      </p:sp>
      <p:sp>
        <p:nvSpPr>
          <p:cNvPr id="13" name="Text 10"/>
          <p:cNvSpPr txBox="1"/>
          <p:nvPr/>
        </p:nvSpPr>
        <p:spPr>
          <a:xfrm>
            <a:off x="822960" y="5257800"/>
            <a:ext cx="1371600" cy="365760"/>
          </a:xfrm>
          <a:prstGeom prst="rect">
            <a:avLst/>
          </a:prstGeom>
          <a:noFill/>
          <a:ln/>
        </p:spPr>
        <p:txBody>
          <a:bodyPr wrap="square" lIns="0" tIns="0" rIns="0" bIns="0" rtlCol="0" anchor="t"/>
          <a:lstStyle/>
          <a:p>
            <a:pPr indent="0" marL="0">
              <a:buNone/>
            </a:pPr>
            <a:r>
              <a:rPr lang="en-US" sz="1700" b="1" dirty="0">
                <a:solidFill>
                  <a:schemeClr val="accent3"/>
                </a:solidFill>
              </a:rPr>
              <a:t>15.3.4</a:t>
            </a:r>
            <a:endParaRPr lang="en-US" sz="1700" dirty="0"/>
          </a:p>
        </p:txBody>
      </p:sp>
      <p:sp>
        <p:nvSpPr>
          <p:cNvPr id="14" name="Text 11"/>
          <p:cNvSpPr txBox="1"/>
          <p:nvPr/>
        </p:nvSpPr>
        <p:spPr>
          <a:xfrm>
            <a:off x="2240280" y="5257800"/>
            <a:ext cx="3383280" cy="822960"/>
          </a:xfrm>
          <a:prstGeom prst="rect">
            <a:avLst/>
          </a:prstGeom>
          <a:noFill/>
          <a:ln/>
        </p:spPr>
        <p:txBody>
          <a:bodyPr wrap="square" lIns="0" tIns="0" rIns="0" bIns="0" rtlCol="0" anchor="t"/>
          <a:lstStyle/>
          <a:p>
            <a:pPr indent="0" marL="0">
              <a:buNone/>
            </a:pPr>
            <a:r>
              <a:rPr lang="en-US" sz="1500" dirty="0">
                <a:solidFill>
                  <a:schemeClr val="tx1"/>
                </a:solidFill>
              </a:rPr>
              <a:t>No alien-species policy.</a:t>
            </a:r>
            <a:endParaRPr lang="en-US" sz="1500" dirty="0"/>
          </a:p>
        </p:txBody>
      </p:sp>
      <p:sp>
        <p:nvSpPr>
          <p:cNvPr id="15" name="Risks card"/>
          <p:cNvSpPr/>
          <p:nvPr/>
        </p:nvSpPr>
        <p:spPr>
          <a:xfrm>
            <a:off x="6263640" y="1417320"/>
            <a:ext cx="5349240" cy="4754880"/>
          </a:xfrm>
          <a:prstGeom prst="roundRect">
            <a:avLst>
              <a:gd name="adj" fmla="val 2308"/>
            </a:avLst>
          </a:prstGeom>
          <a:solidFill>
            <a:schemeClr val="bg2"/>
          </a:solidFill>
          <a:ln w="12700">
            <a:solidFill>
              <a:schemeClr val="bg2"/>
            </a:solidFill>
            <a:prstDash val="solid"/>
          </a:ln>
        </p:spPr>
      </p:sp>
      <p:sp>
        <p:nvSpPr>
          <p:cNvPr id="16" name="Risks badge"/>
          <p:cNvSpPr/>
          <p:nvPr/>
        </p:nvSpPr>
        <p:spPr>
          <a:xfrm>
            <a:off x="6537960" y="1645920"/>
            <a:ext cx="640080" cy="640080"/>
          </a:xfrm>
          <a:prstGeom prst="ellipse">
            <a:avLst/>
          </a:prstGeom>
          <a:solidFill>
            <a:schemeClr val="accent4"/>
          </a:solidFill>
          <a:ln w="12700">
            <a:solidFill>
              <a:schemeClr val="accent4"/>
            </a:solidFill>
            <a:prstDash val="solid"/>
          </a:ln>
        </p:spPr>
      </p:sp>
      <p:pic>
        <p:nvPicPr>
          <p:cNvPr id="17" name="Risks icon" descr="Risks">    </p:cNvPr>
          <p:cNvPicPr>
            <a:picLocks noChangeAspect="1"/>
          </p:cNvPicPr>
          <p:nvPr/>
        </p:nvPicPr>
        <p:blipFill>
          <a:blip r:embed="rId2"/>
          <a:stretch>
            <a:fillRect/>
          </a:stretch>
        </p:blipFill>
        <p:spPr>
          <a:xfrm>
            <a:off x="6704381" y="1812341"/>
            <a:ext cx="307238" cy="307238"/>
          </a:xfrm>
          <a:prstGeom prst="rect">
            <a:avLst/>
          </a:prstGeom>
        </p:spPr>
      </p:pic>
      <p:sp>
        <p:nvSpPr>
          <p:cNvPr id="18" name="Text 14"/>
          <p:cNvSpPr txBox="1"/>
          <p:nvPr/>
        </p:nvSpPr>
        <p:spPr>
          <a:xfrm>
            <a:off x="7360920" y="1691640"/>
            <a:ext cx="3200400" cy="548640"/>
          </a:xfrm>
          <a:prstGeom prst="rect">
            <a:avLst/>
          </a:prstGeom>
          <a:noFill/>
          <a:ln/>
        </p:spPr>
        <p:txBody>
          <a:bodyPr wrap="square" lIns="0" tIns="0" rIns="0" bIns="0" rtlCol="0" anchor="ctr"/>
          <a:lstStyle/>
          <a:p>
            <a:pPr indent="0" marL="0">
              <a:buNone/>
            </a:pPr>
            <a:r>
              <a:rPr lang="en-US" sz="2600" b="1" dirty="0">
                <a:solidFill>
                  <a:schemeClr val="tx2"/>
                </a:solidFill>
                <a:latin typeface="+mj-lt" pitchFamily="34" charset="0"/>
                <a:ea typeface="+mj-lt" pitchFamily="34" charset="-122"/>
                <a:cs typeface="+mj-lt" pitchFamily="34" charset="-120"/>
              </a:rPr>
              <a:t>Risks</a:t>
            </a:r>
            <a:endParaRPr lang="en-US" sz="2600" dirty="0"/>
          </a:p>
        </p:txBody>
      </p:sp>
      <p:sp>
        <p:nvSpPr>
          <p:cNvPr id="19" name="Text 15"/>
          <p:cNvSpPr txBox="1"/>
          <p:nvPr/>
        </p:nvSpPr>
        <p:spPr>
          <a:xfrm>
            <a:off x="6537960" y="2514600"/>
            <a:ext cx="1371600" cy="365760"/>
          </a:xfrm>
          <a:prstGeom prst="rect">
            <a:avLst/>
          </a:prstGeom>
          <a:noFill/>
          <a:ln/>
        </p:spPr>
        <p:txBody>
          <a:bodyPr wrap="square" lIns="0" tIns="0" rIns="0" bIns="0" rtlCol="0" anchor="t"/>
          <a:lstStyle/>
          <a:p>
            <a:pPr indent="0" marL="0">
              <a:buNone/>
            </a:pPr>
            <a:r>
              <a:rPr lang="en-US" sz="1700" b="1" dirty="0">
                <a:solidFill>
                  <a:schemeClr val="accent4"/>
                </a:solidFill>
              </a:rPr>
              <a:t>Data year</a:t>
            </a:r>
            <a:endParaRPr lang="en-US" sz="1700" dirty="0"/>
          </a:p>
        </p:txBody>
      </p:sp>
      <p:sp>
        <p:nvSpPr>
          <p:cNvPr id="20" name="Text 16"/>
          <p:cNvSpPr txBox="1"/>
          <p:nvPr/>
        </p:nvSpPr>
        <p:spPr>
          <a:xfrm>
            <a:off x="7955280" y="2514600"/>
            <a:ext cx="3383280" cy="822960"/>
          </a:xfrm>
          <a:prstGeom prst="rect">
            <a:avLst/>
          </a:prstGeom>
          <a:noFill/>
          <a:ln/>
        </p:spPr>
        <p:txBody>
          <a:bodyPr wrap="square" lIns="0" tIns="0" rIns="0" bIns="0" rtlCol="0" anchor="t"/>
          <a:lstStyle/>
          <a:p>
            <a:pPr indent="0" marL="0">
              <a:buNone/>
            </a:pPr>
            <a:r>
              <a:rPr lang="en-US" sz="1500" dirty="0">
                <a:solidFill>
                  <a:schemeClr val="tx1"/>
                </a:solidFill>
              </a:rPr>
              <a:t>THE has not confirmed it for 2027; we assume 2025.</a:t>
            </a:r>
            <a:endParaRPr lang="en-US" sz="1500" dirty="0"/>
          </a:p>
        </p:txBody>
      </p:sp>
      <p:sp>
        <p:nvSpPr>
          <p:cNvPr id="21" name="Text 17"/>
          <p:cNvSpPr txBox="1"/>
          <p:nvPr/>
        </p:nvSpPr>
        <p:spPr>
          <a:xfrm>
            <a:off x="6537960" y="3429000"/>
            <a:ext cx="1371600" cy="365760"/>
          </a:xfrm>
          <a:prstGeom prst="rect">
            <a:avLst/>
          </a:prstGeom>
          <a:noFill/>
          <a:ln/>
        </p:spPr>
        <p:txBody>
          <a:bodyPr wrap="square" lIns="0" tIns="0" rIns="0" bIns="0" rtlCol="0" anchor="t"/>
          <a:lstStyle/>
          <a:p>
            <a:pPr indent="0" marL="0">
              <a:buNone/>
            </a:pPr>
            <a:r>
              <a:rPr lang="en-US" sz="1700" b="1" dirty="0">
                <a:solidFill>
                  <a:schemeClr val="accent4"/>
                </a:solidFill>
              </a:rPr>
              <a:t>Review window</a:t>
            </a:r>
            <a:endParaRPr lang="en-US" sz="1700" dirty="0"/>
          </a:p>
        </p:txBody>
      </p:sp>
      <p:sp>
        <p:nvSpPr>
          <p:cNvPr id="22" name="Text 18"/>
          <p:cNvSpPr txBox="1"/>
          <p:nvPr/>
        </p:nvSpPr>
        <p:spPr>
          <a:xfrm>
            <a:off x="7955280" y="3429000"/>
            <a:ext cx="3383280" cy="822960"/>
          </a:xfrm>
          <a:prstGeom prst="rect">
            <a:avLst/>
          </a:prstGeom>
          <a:noFill/>
          <a:ln/>
        </p:spPr>
        <p:txBody>
          <a:bodyPr wrap="square" lIns="0" tIns="0" rIns="0" bIns="0" rtlCol="0" anchor="t"/>
          <a:lstStyle/>
          <a:p>
            <a:pPr indent="0" marL="0">
              <a:buNone/>
            </a:pPr>
            <a:r>
              <a:rPr lang="en-US" sz="1500" dirty="0">
                <a:solidFill>
                  <a:schemeClr val="tx1"/>
                </a:solidFill>
              </a:rPr>
              <a:t>Older policies may fall outside it (IPWMP 2020, Sirmata 2021).</a:t>
            </a:r>
            <a:endParaRPr lang="en-US" sz="1500" dirty="0"/>
          </a:p>
        </p:txBody>
      </p:sp>
      <p:sp>
        <p:nvSpPr>
          <p:cNvPr id="23" name="Text 19"/>
          <p:cNvSpPr txBox="1"/>
          <p:nvPr/>
        </p:nvSpPr>
        <p:spPr>
          <a:xfrm>
            <a:off x="6537960" y="4343400"/>
            <a:ext cx="1371600" cy="365760"/>
          </a:xfrm>
          <a:prstGeom prst="rect">
            <a:avLst/>
          </a:prstGeom>
          <a:noFill/>
          <a:ln/>
        </p:spPr>
        <p:txBody>
          <a:bodyPr wrap="square" lIns="0" tIns="0" rIns="0" bIns="0" rtlCol="0" anchor="t"/>
          <a:lstStyle/>
          <a:p>
            <a:pPr indent="0" marL="0">
              <a:buNone/>
            </a:pPr>
            <a:r>
              <a:rPr lang="en-US" sz="1700" b="1" dirty="0">
                <a:solidFill>
                  <a:schemeClr val="accent4"/>
                </a:solidFill>
              </a:rPr>
              <a:t>Links</a:t>
            </a:r>
            <a:endParaRPr lang="en-US" sz="1700" dirty="0"/>
          </a:p>
        </p:txBody>
      </p:sp>
      <p:sp>
        <p:nvSpPr>
          <p:cNvPr id="24" name="Text 20"/>
          <p:cNvSpPr txBox="1"/>
          <p:nvPr/>
        </p:nvSpPr>
        <p:spPr>
          <a:xfrm>
            <a:off x="7955280" y="4343400"/>
            <a:ext cx="3383280" cy="822960"/>
          </a:xfrm>
          <a:prstGeom prst="rect">
            <a:avLst/>
          </a:prstGeom>
          <a:noFill/>
          <a:ln/>
        </p:spPr>
        <p:txBody>
          <a:bodyPr wrap="square" lIns="0" tIns="0" rIns="0" bIns="0" rtlCol="0" anchor="t"/>
          <a:lstStyle/>
          <a:p>
            <a:pPr indent="0" marL="0">
              <a:buNone/>
            </a:pPr>
            <a:r>
              <a:rPr lang="en-US" sz="1500" dirty="0">
                <a:solidFill>
                  <a:schemeClr val="tx1"/>
                </a:solidFill>
              </a:rPr>
              <a:t>Reviewers do not follow links, so each PDF must stand alone.</a:t>
            </a:r>
            <a:endParaRPr lang="en-US" sz="1500" dirty="0"/>
          </a:p>
        </p:txBody>
      </p:sp>
      <p:sp>
        <p:nvSpPr>
          <p:cNvPr id="25" name="Text 21"/>
          <p:cNvSpPr txBox="1"/>
          <p:nvPr/>
        </p:nvSpPr>
        <p:spPr>
          <a:xfrm>
            <a:off x="6537960" y="5257800"/>
            <a:ext cx="1371600" cy="365760"/>
          </a:xfrm>
          <a:prstGeom prst="rect">
            <a:avLst/>
          </a:prstGeom>
          <a:noFill/>
          <a:ln/>
        </p:spPr>
        <p:txBody>
          <a:bodyPr wrap="square" lIns="0" tIns="0" rIns="0" bIns="0" rtlCol="0" anchor="t"/>
          <a:lstStyle/>
          <a:p>
            <a:pPr indent="0" marL="0">
              <a:buNone/>
            </a:pPr>
            <a:r>
              <a:rPr lang="en-US" sz="1700" b="1" dirty="0">
                <a:solidFill>
                  <a:schemeClr val="accent4"/>
                </a:solidFill>
              </a:rPr>
              <a:t>Free access</a:t>
            </a:r>
            <a:endParaRPr lang="en-US" sz="1700" dirty="0"/>
          </a:p>
        </p:txBody>
      </p:sp>
      <p:sp>
        <p:nvSpPr>
          <p:cNvPr id="26" name="Text 22"/>
          <p:cNvSpPr txBox="1"/>
          <p:nvPr/>
        </p:nvSpPr>
        <p:spPr>
          <a:xfrm>
            <a:off x="7955280" y="5257800"/>
            <a:ext cx="3383280" cy="822960"/>
          </a:xfrm>
          <a:prstGeom prst="rect">
            <a:avLst/>
          </a:prstGeom>
          <a:noFill/>
          <a:ln/>
        </p:spPr>
        <p:txBody>
          <a:bodyPr wrap="square" lIns="0" tIns="0" rIns="0" bIns="0" rtlCol="0" anchor="t"/>
          <a:lstStyle/>
          <a:p>
            <a:pPr indent="0" marL="0">
              <a:buNone/>
            </a:pPr>
            <a:r>
              <a:rPr lang="en-US" sz="1500" dirty="0">
                <a:solidFill>
                  <a:schemeClr val="tx1"/>
                </a:solidFill>
              </a:rPr>
              <a:t>Not stated for the 2025 trainings; charged programmes score 0.25.</a:t>
            </a:r>
            <a:endParaRPr lang="en-US" sz="15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lIns="0" tIns="0" rIns="0" bIns="0" rtlCol="0" anchor="ctr"/>
          <a:lstStyle/>
          <a:p>
            <a:pPr algn="l" indent="0" marL="0">
              <a:buNone/>
            </a:pPr>
            <a:r>
              <a:rPr lang="en-US" sz="3400" b="1" dirty="0">
                <a:solidFill>
                  <a:schemeClr val="tx2"/>
                </a:solidFill>
              </a:rPr>
              <a:t>What we need from the team</a:t>
            </a:r>
            <a:endParaRPr lang="en-US" sz="3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548640"/>
                <a:gridCol w="6766560"/>
                <a:gridCol w="3749040"/>
              </a:tblGrid>
              <a:tr h="502920">
                <a:tc>
                  <a:txBody>
                    <a:bodyPr/>
                    <a:lstStyle/>
                    <a:p>
                      <a:pPr indent="0" marL="0">
                        <a:buNone/>
                      </a:pPr>
                      <a:r>
                        <a:rPr lang="en-US" sz="1600" b="1" dirty="0">
                          <a:solidFill>
                            <a:schemeClr val="bg1"/>
                          </a:solidFill>
                        </a:rPr>
                        <a:t>#</a:t>
                      </a:r>
                      <a:endParaRPr lang="en-US" sz="1600" dirty="0"/>
                    </a:p>
                  </a:txBody>
                  <a:tcPr marL="109728" marR="109728" marT="54864" marB="54864" anchor="ctr">
                    <a:lnL w="9525" cap="flat" cmpd="sng" algn="ctr">
                      <a:solidFill>
                        <a:srgbClr val="D5E6CF"/>
                      </a:solidFill>
                      <a:prstDash val="solid"/>
                      <a:round/>
                      <a:headEnd type="none" w="med" len="med"/>
                      <a:tailEnd type="none" w="med" len="med"/>
                    </a:lnL>
                    <a:lnR w="9525" cap="flat" cmpd="sng" algn="ctr">
                      <a:solidFill>
                        <a:srgbClr val="D5E6CF"/>
                      </a:solidFill>
                      <a:prstDash val="solid"/>
                      <a:round/>
                      <a:headEnd type="none" w="med" len="med"/>
                      <a:tailEnd type="none" w="med" len="med"/>
                    </a:lnR>
                    <a:lnT w="9525" cap="flat" cmpd="sng" algn="ctr">
                      <a:solidFill>
                        <a:srgbClr val="D5E6CF"/>
                      </a:solidFill>
                      <a:prstDash val="solid"/>
                      <a:round/>
                      <a:headEnd type="none" w="med" len="med"/>
                      <a:tailEnd type="none" w="med" len="med"/>
                    </a:lnT>
                    <a:lnB w="9525" cap="flat" cmpd="sng" algn="ctr">
                      <a:solidFill>
                        <a:srgbClr val="D5E6CF"/>
                      </a:solidFill>
                      <a:prstDash val="solid"/>
                      <a:round/>
                      <a:headEnd type="none" w="med" len="med"/>
                      <a:tailEnd type="none" w="med" len="med"/>
                    </a:lnB>
                    <a:solidFill>
                      <a:schemeClr val="tx2"/>
                    </a:solidFill>
                  </a:tcPr>
                </a:tc>
                <a:tc>
                  <a:txBody>
                    <a:bodyPr/>
                    <a:lstStyle/>
                    <a:p>
                      <a:pPr indent="0" marL="0">
                        <a:buNone/>
                      </a:pPr>
                      <a:r>
                        <a:rPr lang="en-US" sz="1600" b="1" dirty="0">
                          <a:solidFill>
                            <a:schemeClr val="bg1"/>
                          </a:solidFill>
                        </a:rPr>
                        <a:t>Action</a:t>
                      </a:r>
                      <a:endParaRPr lang="en-US" sz="1600" dirty="0"/>
                    </a:p>
                  </a:txBody>
                  <a:tcPr marL="109728" marR="109728" marT="54864" marB="54864" anchor="ctr">
                    <a:lnL w="9525" cap="flat" cmpd="sng" algn="ctr">
                      <a:solidFill>
                        <a:srgbClr val="D5E6CF"/>
                      </a:solidFill>
                      <a:prstDash val="solid"/>
                      <a:round/>
                      <a:headEnd type="none" w="med" len="med"/>
                      <a:tailEnd type="none" w="med" len="med"/>
                    </a:lnL>
                    <a:lnR w="9525" cap="flat" cmpd="sng" algn="ctr">
                      <a:solidFill>
                        <a:srgbClr val="D5E6CF"/>
                      </a:solidFill>
                      <a:prstDash val="solid"/>
                      <a:round/>
                      <a:headEnd type="none" w="med" len="med"/>
                      <a:tailEnd type="none" w="med" len="med"/>
                    </a:lnR>
                    <a:lnT w="9525" cap="flat" cmpd="sng" algn="ctr">
                      <a:solidFill>
                        <a:srgbClr val="D5E6CF"/>
                      </a:solidFill>
                      <a:prstDash val="solid"/>
                      <a:round/>
                      <a:headEnd type="none" w="med" len="med"/>
                      <a:tailEnd type="none" w="med" len="med"/>
                    </a:lnT>
                    <a:lnB w="9525" cap="flat" cmpd="sng" algn="ctr">
                      <a:solidFill>
                        <a:srgbClr val="D5E6CF"/>
                      </a:solidFill>
                      <a:prstDash val="solid"/>
                      <a:round/>
                      <a:headEnd type="none" w="med" len="med"/>
                      <a:tailEnd type="none" w="med" len="med"/>
                    </a:lnB>
                    <a:solidFill>
                      <a:schemeClr val="tx2"/>
                    </a:solidFill>
                  </a:tcPr>
                </a:tc>
                <a:tc>
                  <a:txBody>
                    <a:bodyPr/>
                    <a:lstStyle/>
                    <a:p>
                      <a:pPr indent="0" marL="0">
                        <a:buNone/>
                      </a:pPr>
                      <a:r>
                        <a:rPr lang="en-US" sz="1600" b="1" dirty="0">
                          <a:solidFill>
                            <a:schemeClr val="bg1"/>
                          </a:solidFill>
                        </a:rPr>
                        <a:t>Proposed owner</a:t>
                      </a:r>
                      <a:endParaRPr lang="en-US" sz="1600" dirty="0"/>
                    </a:p>
                  </a:txBody>
                  <a:tcPr marL="109728" marR="109728" marT="54864" marB="54864" anchor="ctr">
                    <a:lnL w="9525" cap="flat" cmpd="sng" algn="ctr">
                      <a:solidFill>
                        <a:srgbClr val="D5E6CF"/>
                      </a:solidFill>
                      <a:prstDash val="solid"/>
                      <a:round/>
                      <a:headEnd type="none" w="med" len="med"/>
                      <a:tailEnd type="none" w="med" len="med"/>
                    </a:lnL>
                    <a:lnR w="9525" cap="flat" cmpd="sng" algn="ctr">
                      <a:solidFill>
                        <a:srgbClr val="D5E6CF"/>
                      </a:solidFill>
                      <a:prstDash val="solid"/>
                      <a:round/>
                      <a:headEnd type="none" w="med" len="med"/>
                      <a:tailEnd type="none" w="med" len="med"/>
                    </a:lnR>
                    <a:lnT w="9525" cap="flat" cmpd="sng" algn="ctr">
                      <a:solidFill>
                        <a:srgbClr val="D5E6CF"/>
                      </a:solidFill>
                      <a:prstDash val="solid"/>
                      <a:round/>
                      <a:headEnd type="none" w="med" len="med"/>
                      <a:tailEnd type="none" w="med" len="med"/>
                    </a:lnT>
                    <a:lnB w="9525" cap="flat" cmpd="sng" algn="ctr">
                      <a:solidFill>
                        <a:srgbClr val="D5E6CF"/>
                      </a:solidFill>
                      <a:prstDash val="solid"/>
                      <a:round/>
                      <a:headEnd type="none" w="med" len="med"/>
                      <a:tailEnd type="none" w="med" len="med"/>
                    </a:lnB>
                    <a:solidFill>
                      <a:schemeClr val="tx2"/>
                    </a:solidFill>
                  </a:tcPr>
                </a:tc>
              </a:tr>
              <a:tr h="685800">
                <a:tc>
                  <a:txBody>
                    <a:bodyPr/>
                    <a:lstStyle/>
                    <a:p>
                      <a:pPr indent="0" marL="0">
                        <a:buNone/>
                      </a:pPr>
                      <a:r>
                        <a:rPr lang="en-US" sz="1600" b="1" dirty="0">
                          <a:solidFill>
                            <a:schemeClr val="tx1"/>
                          </a:solidFill>
                        </a:rPr>
                        <a:t>1</a:t>
                      </a:r>
                      <a:endParaRPr lang="en-US" sz="1600" dirty="0"/>
                    </a:p>
                  </a:txBody>
                  <a:tcPr marL="109728" marR="109728" marT="54864" marB="54864" anchor="ctr">
                    <a:lnL w="9525" cap="flat" cmpd="sng" algn="ctr">
                      <a:solidFill>
                        <a:srgbClr val="D5E6CF"/>
                      </a:solidFill>
                      <a:prstDash val="solid"/>
                      <a:round/>
                      <a:headEnd type="none" w="med" len="med"/>
                      <a:tailEnd type="none" w="med" len="med"/>
                    </a:lnL>
                    <a:lnR w="9525" cap="flat" cmpd="sng" algn="ctr">
                      <a:solidFill>
                        <a:srgbClr val="D5E6CF"/>
                      </a:solidFill>
                      <a:prstDash val="solid"/>
                      <a:round/>
                      <a:headEnd type="none" w="med" len="med"/>
                      <a:tailEnd type="none" w="med" len="med"/>
                    </a:lnR>
                    <a:lnT w="9525" cap="flat" cmpd="sng" algn="ctr">
                      <a:solidFill>
                        <a:srgbClr val="D5E6CF"/>
                      </a:solidFill>
                      <a:prstDash val="solid"/>
                      <a:round/>
                      <a:headEnd type="none" w="med" len="med"/>
                      <a:tailEnd type="none" w="med" len="med"/>
                    </a:lnT>
                    <a:lnB w="9525" cap="flat" cmpd="sng" algn="ctr">
                      <a:solidFill>
                        <a:srgbClr val="D5E6CF"/>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Confirm the 2027 data year and policy-review window with THE</a:t>
                      </a:r>
                      <a:endParaRPr lang="en-US" sz="1600" dirty="0"/>
                    </a:p>
                  </a:txBody>
                  <a:tcPr marL="109728" marR="109728" marT="54864" marB="54864" anchor="ctr">
                    <a:lnL w="9525" cap="flat" cmpd="sng" algn="ctr">
                      <a:solidFill>
                        <a:srgbClr val="D5E6CF"/>
                      </a:solidFill>
                      <a:prstDash val="solid"/>
                      <a:round/>
                      <a:headEnd type="none" w="med" len="med"/>
                      <a:tailEnd type="none" w="med" len="med"/>
                    </a:lnL>
                    <a:lnR w="9525" cap="flat" cmpd="sng" algn="ctr">
                      <a:solidFill>
                        <a:srgbClr val="D5E6CF"/>
                      </a:solidFill>
                      <a:prstDash val="solid"/>
                      <a:round/>
                      <a:headEnd type="none" w="med" len="med"/>
                      <a:tailEnd type="none" w="med" len="med"/>
                    </a:lnR>
                    <a:lnT w="9525" cap="flat" cmpd="sng" algn="ctr">
                      <a:solidFill>
                        <a:srgbClr val="D5E6CF"/>
                      </a:solidFill>
                      <a:prstDash val="solid"/>
                      <a:round/>
                      <a:headEnd type="none" w="med" len="med"/>
                      <a:tailEnd type="none" w="med" len="med"/>
                    </a:lnT>
                    <a:lnB w="9525" cap="flat" cmpd="sng" algn="ctr">
                      <a:solidFill>
                        <a:srgbClr val="D5E6CF"/>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Chair and Co-Chair</a:t>
                      </a:r>
                      <a:endParaRPr lang="en-US" sz="1600" dirty="0"/>
                    </a:p>
                  </a:txBody>
                  <a:tcPr marL="109728" marR="109728" marT="54864" marB="54864" anchor="ctr">
                    <a:lnL w="9525" cap="flat" cmpd="sng" algn="ctr">
                      <a:solidFill>
                        <a:srgbClr val="D5E6CF"/>
                      </a:solidFill>
                      <a:prstDash val="solid"/>
                      <a:round/>
                      <a:headEnd type="none" w="med" len="med"/>
                      <a:tailEnd type="none" w="med" len="med"/>
                    </a:lnL>
                    <a:lnR w="9525" cap="flat" cmpd="sng" algn="ctr">
                      <a:solidFill>
                        <a:srgbClr val="D5E6CF"/>
                      </a:solidFill>
                      <a:prstDash val="solid"/>
                      <a:round/>
                      <a:headEnd type="none" w="med" len="med"/>
                      <a:tailEnd type="none" w="med" len="med"/>
                    </a:lnR>
                    <a:lnT w="9525" cap="flat" cmpd="sng" algn="ctr">
                      <a:solidFill>
                        <a:srgbClr val="D5E6CF"/>
                      </a:solidFill>
                      <a:prstDash val="solid"/>
                      <a:round/>
                      <a:headEnd type="none" w="med" len="med"/>
                      <a:tailEnd type="none" w="med" len="med"/>
                    </a:lnT>
                    <a:lnB w="9525" cap="flat" cmpd="sng" algn="ctr">
                      <a:solidFill>
                        <a:srgbClr val="D5E6CF"/>
                      </a:solidFill>
                      <a:prstDash val="solid"/>
                      <a:round/>
                      <a:headEnd type="none" w="med" len="med"/>
                      <a:tailEnd type="none" w="med" len="med"/>
                    </a:lnB>
                    <a:solidFill>
                      <a:schemeClr val="bg1"/>
                    </a:solidFill>
                  </a:tcPr>
                </a:tc>
              </a:tr>
              <a:tr h="868680">
                <a:tc>
                  <a:txBody>
                    <a:bodyPr/>
                    <a:lstStyle/>
                    <a:p>
                      <a:pPr indent="0" marL="0">
                        <a:buNone/>
                      </a:pPr>
                      <a:r>
                        <a:rPr lang="en-US" sz="1600" b="1" dirty="0">
                          <a:solidFill>
                            <a:schemeClr val="tx1"/>
                          </a:solidFill>
                        </a:rPr>
                        <a:t>2</a:t>
                      </a:r>
                      <a:endParaRPr lang="en-US" sz="1600" dirty="0"/>
                    </a:p>
                  </a:txBody>
                  <a:tcPr marL="109728" marR="109728" marT="54864" marB="54864" anchor="ctr">
                    <a:lnL w="9525" cap="flat" cmpd="sng" algn="ctr">
                      <a:solidFill>
                        <a:srgbClr val="D5E6CF"/>
                      </a:solidFill>
                      <a:prstDash val="solid"/>
                      <a:round/>
                      <a:headEnd type="none" w="med" len="med"/>
                      <a:tailEnd type="none" w="med" len="med"/>
                    </a:lnL>
                    <a:lnR w="9525" cap="flat" cmpd="sng" algn="ctr">
                      <a:solidFill>
                        <a:srgbClr val="D5E6CF"/>
                      </a:solidFill>
                      <a:prstDash val="solid"/>
                      <a:round/>
                      <a:headEnd type="none" w="med" len="med"/>
                      <a:tailEnd type="none" w="med" len="med"/>
                    </a:lnR>
                    <a:lnT w="9525" cap="flat" cmpd="sng" algn="ctr">
                      <a:solidFill>
                        <a:srgbClr val="D5E6CF"/>
                      </a:solidFill>
                      <a:prstDash val="solid"/>
                      <a:round/>
                      <a:headEnd type="none" w="med" len="med"/>
                      <a:tailEnd type="none" w="med" len="med"/>
                    </a:lnT>
                    <a:lnB w="9525" cap="flat" cmpd="sng" algn="ctr">
                      <a:solidFill>
                        <a:srgbClr val="D5E6CF"/>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Screenshot the three Facebook posts; find the 2024 and 2025 bottled-water reiterations and council minutes</a:t>
                      </a:r>
                      <a:endParaRPr lang="en-US" sz="1600" dirty="0"/>
                    </a:p>
                  </a:txBody>
                  <a:tcPr marL="109728" marR="109728" marT="54864" marB="54864" anchor="ctr">
                    <a:lnL w="9525" cap="flat" cmpd="sng" algn="ctr">
                      <a:solidFill>
                        <a:srgbClr val="D5E6CF"/>
                      </a:solidFill>
                      <a:prstDash val="solid"/>
                      <a:round/>
                      <a:headEnd type="none" w="med" len="med"/>
                      <a:tailEnd type="none" w="med" len="med"/>
                    </a:lnL>
                    <a:lnR w="9525" cap="flat" cmpd="sng" algn="ctr">
                      <a:solidFill>
                        <a:srgbClr val="D5E6CF"/>
                      </a:solidFill>
                      <a:prstDash val="solid"/>
                      <a:round/>
                      <a:headEnd type="none" w="med" len="med"/>
                      <a:tailEnd type="none" w="med" len="med"/>
                    </a:lnR>
                    <a:lnT w="9525" cap="flat" cmpd="sng" algn="ctr">
                      <a:solidFill>
                        <a:srgbClr val="D5E6CF"/>
                      </a:solidFill>
                      <a:prstDash val="solid"/>
                      <a:round/>
                      <a:headEnd type="none" w="med" len="med"/>
                      <a:tailEnd type="none" w="med" len="med"/>
                    </a:lnT>
                    <a:lnB w="9525" cap="flat" cmpd="sng" algn="ctr">
                      <a:solidFill>
                        <a:srgbClr val="D5E6CF"/>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CCIS, BioCircle, University Secretary</a:t>
                      </a:r>
                      <a:endParaRPr lang="en-US" sz="1600" dirty="0"/>
                    </a:p>
                  </a:txBody>
                  <a:tcPr marL="109728" marR="109728" marT="54864" marB="54864" anchor="ctr">
                    <a:lnL w="9525" cap="flat" cmpd="sng" algn="ctr">
                      <a:solidFill>
                        <a:srgbClr val="D5E6CF"/>
                      </a:solidFill>
                      <a:prstDash val="solid"/>
                      <a:round/>
                      <a:headEnd type="none" w="med" len="med"/>
                      <a:tailEnd type="none" w="med" len="med"/>
                    </a:lnL>
                    <a:lnR w="9525" cap="flat" cmpd="sng" algn="ctr">
                      <a:solidFill>
                        <a:srgbClr val="D5E6CF"/>
                      </a:solidFill>
                      <a:prstDash val="solid"/>
                      <a:round/>
                      <a:headEnd type="none" w="med" len="med"/>
                      <a:tailEnd type="none" w="med" len="med"/>
                    </a:lnR>
                    <a:lnT w="9525" cap="flat" cmpd="sng" algn="ctr">
                      <a:solidFill>
                        <a:srgbClr val="D5E6CF"/>
                      </a:solidFill>
                      <a:prstDash val="solid"/>
                      <a:round/>
                      <a:headEnd type="none" w="med" len="med"/>
                      <a:tailEnd type="none" w="med" len="med"/>
                    </a:lnT>
                    <a:lnB w="9525" cap="flat" cmpd="sng" algn="ctr">
                      <a:solidFill>
                        <a:srgbClr val="D5E6CF"/>
                      </a:solidFill>
                      <a:prstDash val="solid"/>
                      <a:round/>
                      <a:headEnd type="none" w="med" len="med"/>
                      <a:tailEnd type="none" w="med" len="med"/>
                    </a:lnB>
                    <a:solidFill>
                      <a:schemeClr val="bg1"/>
                    </a:solidFill>
                  </a:tcPr>
                </a:tc>
              </a:tr>
              <a:tr h="822960">
                <a:tc>
                  <a:txBody>
                    <a:bodyPr/>
                    <a:lstStyle/>
                    <a:p>
                      <a:pPr indent="0" marL="0">
                        <a:buNone/>
                      </a:pPr>
                      <a:r>
                        <a:rPr lang="en-US" sz="1600" b="1" dirty="0">
                          <a:solidFill>
                            <a:schemeClr val="tx1"/>
                          </a:solidFill>
                        </a:rPr>
                        <a:t>3</a:t>
                      </a:r>
                      <a:endParaRPr lang="en-US" sz="1600" dirty="0"/>
                    </a:p>
                  </a:txBody>
                  <a:tcPr marL="109728" marR="109728" marT="54864" marB="54864" anchor="ctr">
                    <a:lnL w="9525" cap="flat" cmpd="sng" algn="ctr">
                      <a:solidFill>
                        <a:srgbClr val="D5E6CF"/>
                      </a:solidFill>
                      <a:prstDash val="solid"/>
                      <a:round/>
                      <a:headEnd type="none" w="med" len="med"/>
                      <a:tailEnd type="none" w="med" len="med"/>
                    </a:lnL>
                    <a:lnR w="9525" cap="flat" cmpd="sng" algn="ctr">
                      <a:solidFill>
                        <a:srgbClr val="D5E6CF"/>
                      </a:solidFill>
                      <a:prstDash val="solid"/>
                      <a:round/>
                      <a:headEnd type="none" w="med" len="med"/>
                      <a:tailEnd type="none" w="med" len="med"/>
                    </a:lnR>
                    <a:lnT w="9525" cap="flat" cmpd="sng" algn="ctr">
                      <a:solidFill>
                        <a:srgbClr val="D5E6CF"/>
                      </a:solidFill>
                      <a:prstDash val="solid"/>
                      <a:round/>
                      <a:headEnd type="none" w="med" len="med"/>
                      <a:tailEnd type="none" w="med" len="med"/>
                    </a:lnT>
                    <a:lnB w="9525" cap="flat" cmpd="sng" algn="ctr">
                      <a:solidFill>
                        <a:srgbClr val="D5E6CF"/>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Free-access statements, attendance sheets and the signed Pasuquin agreement</a:t>
                      </a:r>
                      <a:endParaRPr lang="en-US" sz="1600" dirty="0"/>
                    </a:p>
                  </a:txBody>
                  <a:tcPr marL="109728" marR="109728" marT="54864" marB="54864" anchor="ctr">
                    <a:lnL w="9525" cap="flat" cmpd="sng" algn="ctr">
                      <a:solidFill>
                        <a:srgbClr val="D5E6CF"/>
                      </a:solidFill>
                      <a:prstDash val="solid"/>
                      <a:round/>
                      <a:headEnd type="none" w="med" len="med"/>
                      <a:tailEnd type="none" w="med" len="med"/>
                    </a:lnL>
                    <a:lnR w="9525" cap="flat" cmpd="sng" algn="ctr">
                      <a:solidFill>
                        <a:srgbClr val="D5E6CF"/>
                      </a:solidFill>
                      <a:prstDash val="solid"/>
                      <a:round/>
                      <a:headEnd type="none" w="med" len="med"/>
                      <a:tailEnd type="none" w="med" len="med"/>
                    </a:lnR>
                    <a:lnT w="9525" cap="flat" cmpd="sng" algn="ctr">
                      <a:solidFill>
                        <a:srgbClr val="D5E6CF"/>
                      </a:solidFill>
                      <a:prstDash val="solid"/>
                      <a:round/>
                      <a:headEnd type="none" w="med" len="med"/>
                      <a:tailEnd type="none" w="med" len="med"/>
                    </a:lnT>
                    <a:lnB w="9525" cap="flat" cmpd="sng" algn="ctr">
                      <a:solidFill>
                        <a:srgbClr val="D5E6CF"/>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Extension and Research Directorates</a:t>
                      </a:r>
                      <a:endParaRPr lang="en-US" sz="1600" dirty="0"/>
                    </a:p>
                  </a:txBody>
                  <a:tcPr marL="109728" marR="109728" marT="54864" marB="54864" anchor="ctr">
                    <a:lnL w="9525" cap="flat" cmpd="sng" algn="ctr">
                      <a:solidFill>
                        <a:srgbClr val="D5E6CF"/>
                      </a:solidFill>
                      <a:prstDash val="solid"/>
                      <a:round/>
                      <a:headEnd type="none" w="med" len="med"/>
                      <a:tailEnd type="none" w="med" len="med"/>
                    </a:lnL>
                    <a:lnR w="9525" cap="flat" cmpd="sng" algn="ctr">
                      <a:solidFill>
                        <a:srgbClr val="D5E6CF"/>
                      </a:solidFill>
                      <a:prstDash val="solid"/>
                      <a:round/>
                      <a:headEnd type="none" w="med" len="med"/>
                      <a:tailEnd type="none" w="med" len="med"/>
                    </a:lnR>
                    <a:lnT w="9525" cap="flat" cmpd="sng" algn="ctr">
                      <a:solidFill>
                        <a:srgbClr val="D5E6CF"/>
                      </a:solidFill>
                      <a:prstDash val="solid"/>
                      <a:round/>
                      <a:headEnd type="none" w="med" len="med"/>
                      <a:tailEnd type="none" w="med" len="med"/>
                    </a:lnT>
                    <a:lnB w="9525" cap="flat" cmpd="sng" algn="ctr">
                      <a:solidFill>
                        <a:srgbClr val="D5E6CF"/>
                      </a:solidFill>
                      <a:prstDash val="solid"/>
                      <a:round/>
                      <a:headEnd type="none" w="med" len="med"/>
                      <a:tailEnd type="none" w="med" len="med"/>
                    </a:lnB>
                    <a:solidFill>
                      <a:schemeClr val="bg1"/>
                    </a:solidFill>
                  </a:tcPr>
                </a:tc>
              </a:tr>
              <a:tr h="731520">
                <a:tc>
                  <a:txBody>
                    <a:bodyPr/>
                    <a:lstStyle/>
                    <a:p>
                      <a:pPr indent="0" marL="0">
                        <a:buNone/>
                      </a:pPr>
                      <a:r>
                        <a:rPr lang="en-US" sz="1600" b="1" dirty="0">
                          <a:solidFill>
                            <a:schemeClr val="tx1"/>
                          </a:solidFill>
                        </a:rPr>
                        <a:t>4</a:t>
                      </a:r>
                      <a:endParaRPr lang="en-US" sz="1600" dirty="0"/>
                    </a:p>
                  </a:txBody>
                  <a:tcPr marL="109728" marR="109728" marT="54864" marB="54864" anchor="ctr">
                    <a:lnL w="9525" cap="flat" cmpd="sng" algn="ctr">
                      <a:solidFill>
                        <a:srgbClr val="D5E6CF"/>
                      </a:solidFill>
                      <a:prstDash val="solid"/>
                      <a:round/>
                      <a:headEnd type="none" w="med" len="med"/>
                      <a:tailEnd type="none" w="med" len="med"/>
                    </a:lnL>
                    <a:lnR w="9525" cap="flat" cmpd="sng" algn="ctr">
                      <a:solidFill>
                        <a:srgbClr val="D5E6CF"/>
                      </a:solidFill>
                      <a:prstDash val="solid"/>
                      <a:round/>
                      <a:headEnd type="none" w="med" len="med"/>
                      <a:tailEnd type="none" w="med" len="med"/>
                    </a:lnR>
                    <a:lnT w="9525" cap="flat" cmpd="sng" algn="ctr">
                      <a:solidFill>
                        <a:srgbClr val="D5E6CF"/>
                      </a:solidFill>
                      <a:prstDash val="solid"/>
                      <a:round/>
                      <a:headEnd type="none" w="med" len="med"/>
                      <a:tailEnd type="none" w="med" len="med"/>
                    </a:lnT>
                    <a:lnB w="9525" cap="flat" cmpd="sng" algn="ctr">
                      <a:solidFill>
                        <a:srgbClr val="D5E6CF"/>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A 2025 review or reiteration of the land use, water and waste policies</a:t>
                      </a:r>
                      <a:endParaRPr lang="en-US" sz="1600" dirty="0"/>
                    </a:p>
                  </a:txBody>
                  <a:tcPr marL="109728" marR="109728" marT="54864" marB="54864" anchor="ctr">
                    <a:lnL w="9525" cap="flat" cmpd="sng" algn="ctr">
                      <a:solidFill>
                        <a:srgbClr val="D5E6CF"/>
                      </a:solidFill>
                      <a:prstDash val="solid"/>
                      <a:round/>
                      <a:headEnd type="none" w="med" len="med"/>
                      <a:tailEnd type="none" w="med" len="med"/>
                    </a:lnL>
                    <a:lnR w="9525" cap="flat" cmpd="sng" algn="ctr">
                      <a:solidFill>
                        <a:srgbClr val="D5E6CF"/>
                      </a:solidFill>
                      <a:prstDash val="solid"/>
                      <a:round/>
                      <a:headEnd type="none" w="med" len="med"/>
                      <a:tailEnd type="none" w="med" len="med"/>
                    </a:lnR>
                    <a:lnT w="9525" cap="flat" cmpd="sng" algn="ctr">
                      <a:solidFill>
                        <a:srgbClr val="D5E6CF"/>
                      </a:solidFill>
                      <a:prstDash val="solid"/>
                      <a:round/>
                      <a:headEnd type="none" w="med" len="med"/>
                      <a:tailEnd type="none" w="med" len="med"/>
                    </a:lnT>
                    <a:lnB w="9525" cap="flat" cmpd="sng" algn="ctr">
                      <a:solidFill>
                        <a:srgbClr val="D5E6CF"/>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Planning and General Services</a:t>
                      </a:r>
                      <a:endParaRPr lang="en-US" sz="1600" dirty="0"/>
                    </a:p>
                  </a:txBody>
                  <a:tcPr marL="109728" marR="109728" marT="54864" marB="54864" anchor="ctr">
                    <a:lnL w="9525" cap="flat" cmpd="sng" algn="ctr">
                      <a:solidFill>
                        <a:srgbClr val="D5E6CF"/>
                      </a:solidFill>
                      <a:prstDash val="solid"/>
                      <a:round/>
                      <a:headEnd type="none" w="med" len="med"/>
                      <a:tailEnd type="none" w="med" len="med"/>
                    </a:lnL>
                    <a:lnR w="9525" cap="flat" cmpd="sng" algn="ctr">
                      <a:solidFill>
                        <a:srgbClr val="D5E6CF"/>
                      </a:solidFill>
                      <a:prstDash val="solid"/>
                      <a:round/>
                      <a:headEnd type="none" w="med" len="med"/>
                      <a:tailEnd type="none" w="med" len="med"/>
                    </a:lnR>
                    <a:lnT w="9525" cap="flat" cmpd="sng" algn="ctr">
                      <a:solidFill>
                        <a:srgbClr val="D5E6CF"/>
                      </a:solidFill>
                      <a:prstDash val="solid"/>
                      <a:round/>
                      <a:headEnd type="none" w="med" len="med"/>
                      <a:tailEnd type="none" w="med" len="med"/>
                    </a:lnT>
                    <a:lnB w="9525" cap="flat" cmpd="sng" algn="ctr">
                      <a:solidFill>
                        <a:srgbClr val="D5E6CF"/>
                      </a:solidFill>
                      <a:prstDash val="solid"/>
                      <a:round/>
                      <a:headEnd type="none" w="med" len="med"/>
                      <a:tailEnd type="none" w="med" len="med"/>
                    </a:lnB>
                    <a:solidFill>
                      <a:schemeClr val="bg1"/>
                    </a:solidFill>
                  </a:tcPr>
                </a:tc>
              </a:tr>
              <a:tr h="731520">
                <a:tc>
                  <a:txBody>
                    <a:bodyPr/>
                    <a:lstStyle/>
                    <a:p>
                      <a:pPr indent="0" marL="0">
                        <a:buNone/>
                      </a:pPr>
                      <a:r>
                        <a:rPr lang="en-US" sz="1600" b="1" dirty="0">
                          <a:solidFill>
                            <a:schemeClr val="tx1"/>
                          </a:solidFill>
                        </a:rPr>
                        <a:t>5</a:t>
                      </a:r>
                      <a:endParaRPr lang="en-US" sz="1600" dirty="0"/>
                    </a:p>
                  </a:txBody>
                  <a:tcPr marL="109728" marR="109728" marT="54864" marB="54864" anchor="ctr">
                    <a:lnL w="9525" cap="flat" cmpd="sng" algn="ctr">
                      <a:solidFill>
                        <a:srgbClr val="D5E6CF"/>
                      </a:solidFill>
                      <a:prstDash val="solid"/>
                      <a:round/>
                      <a:headEnd type="none" w="med" len="med"/>
                      <a:tailEnd type="none" w="med" len="med"/>
                    </a:lnL>
                    <a:lnR w="9525" cap="flat" cmpd="sng" algn="ctr">
                      <a:solidFill>
                        <a:srgbClr val="D5E6CF"/>
                      </a:solidFill>
                      <a:prstDash val="solid"/>
                      <a:round/>
                      <a:headEnd type="none" w="med" len="med"/>
                      <a:tailEnd type="none" w="med" len="med"/>
                    </a:lnR>
                    <a:lnT w="9525" cap="flat" cmpd="sng" algn="ctr">
                      <a:solidFill>
                        <a:srgbClr val="D5E6CF"/>
                      </a:solidFill>
                      <a:prstDash val="solid"/>
                      <a:round/>
                      <a:headEnd type="none" w="med" len="med"/>
                      <a:tailEnd type="none" w="med" len="med"/>
                    </a:lnT>
                    <a:lnB w="9525" cap="flat" cmpd="sng" algn="ctr">
                      <a:solidFill>
                        <a:srgbClr val="D5E6CF"/>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A policy or programme for 15.2.2, 15.2.6, 15.3.2 and 15.3.4</a:t>
                      </a:r>
                      <a:endParaRPr lang="en-US" sz="1600" dirty="0"/>
                    </a:p>
                  </a:txBody>
                  <a:tcPr marL="109728" marR="109728" marT="54864" marB="54864" anchor="ctr">
                    <a:lnL w="9525" cap="flat" cmpd="sng" algn="ctr">
                      <a:solidFill>
                        <a:srgbClr val="D5E6CF"/>
                      </a:solidFill>
                      <a:prstDash val="solid"/>
                      <a:round/>
                      <a:headEnd type="none" w="med" len="med"/>
                      <a:tailEnd type="none" w="med" len="med"/>
                    </a:lnL>
                    <a:lnR w="9525" cap="flat" cmpd="sng" algn="ctr">
                      <a:solidFill>
                        <a:srgbClr val="D5E6CF"/>
                      </a:solidFill>
                      <a:prstDash val="solid"/>
                      <a:round/>
                      <a:headEnd type="none" w="med" len="med"/>
                      <a:tailEnd type="none" w="med" len="med"/>
                    </a:lnR>
                    <a:lnT w="9525" cap="flat" cmpd="sng" algn="ctr">
                      <a:solidFill>
                        <a:srgbClr val="D5E6CF"/>
                      </a:solidFill>
                      <a:prstDash val="solid"/>
                      <a:round/>
                      <a:headEnd type="none" w="med" len="med"/>
                      <a:tailEnd type="none" w="med" len="med"/>
                    </a:lnT>
                    <a:lnB w="9525" cap="flat" cmpd="sng" algn="ctr">
                      <a:solidFill>
                        <a:srgbClr val="D5E6CF"/>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SDG 15 focal persons with CAFSD</a:t>
                      </a:r>
                      <a:endParaRPr lang="en-US" sz="1600" dirty="0"/>
                    </a:p>
                  </a:txBody>
                  <a:tcPr marL="109728" marR="109728" marT="54864" marB="54864" anchor="ctr">
                    <a:lnL w="9525" cap="flat" cmpd="sng" algn="ctr">
                      <a:solidFill>
                        <a:srgbClr val="D5E6CF"/>
                      </a:solidFill>
                      <a:prstDash val="solid"/>
                      <a:round/>
                      <a:headEnd type="none" w="med" len="med"/>
                      <a:tailEnd type="none" w="med" len="med"/>
                    </a:lnL>
                    <a:lnR w="9525" cap="flat" cmpd="sng" algn="ctr">
                      <a:solidFill>
                        <a:srgbClr val="D5E6CF"/>
                      </a:solidFill>
                      <a:prstDash val="solid"/>
                      <a:round/>
                      <a:headEnd type="none" w="med" len="med"/>
                      <a:tailEnd type="none" w="med" len="med"/>
                    </a:lnR>
                    <a:lnT w="9525" cap="flat" cmpd="sng" algn="ctr">
                      <a:solidFill>
                        <a:srgbClr val="D5E6CF"/>
                      </a:solidFill>
                      <a:prstDash val="solid"/>
                      <a:round/>
                      <a:headEnd type="none" w="med" len="med"/>
                      <a:tailEnd type="none" w="med" len="med"/>
                    </a:lnT>
                    <a:lnB w="9525" cap="flat" cmpd="sng" algn="ctr">
                      <a:solidFill>
                        <a:srgbClr val="D5E6CF"/>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548640" y="6035040"/>
            <a:ext cx="11064240" cy="320040"/>
          </a:xfrm>
          <a:prstGeom prst="rect">
            <a:avLst/>
          </a:prstGeom>
          <a:noFill/>
          <a:ln/>
        </p:spPr>
        <p:txBody>
          <a:bodyPr wrap="square" lIns="0" tIns="0" rIns="0" bIns="0" rtlCol="0" anchor="t"/>
          <a:lstStyle/>
          <a:p>
            <a:pPr indent="0" marL="0">
              <a:buNone/>
            </a:pPr>
            <a:r>
              <a:rPr lang="en-US" sz="1400" dirty="0">
                <a:solidFill>
                  <a:schemeClr val="accent5"/>
                </a:solidFill>
              </a:rPr>
              <a:t>Owners are proposals for discussion, not assignments.</a:t>
            </a:r>
            <a:endParaRPr lang="en-US" sz="14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lIns="0" tIns="0" rIns="0" bIns="0" rtlCol="0" anchor="ctr"/>
          <a:lstStyle/>
          <a:p>
            <a:pPr algn="l" indent="0" marL="0">
              <a:buNone/>
            </a:pPr>
            <a:r>
              <a:rPr lang="en-US" sz="3400" b="1" dirty="0">
                <a:solidFill>
                  <a:schemeClr val="bg1"/>
                </a:solidFill>
              </a:rPr>
              <a:t>Next steps to the 9 November deadline</a:t>
            </a:r>
            <a:endParaRPr lang="en-US" sz="3400" dirty="0"/>
          </a:p>
        </p:txBody>
      </p:sp>
      <p:sp>
        <p:nvSpPr>
          <p:cNvPr id="3" name="Step card Now to 3 Nov"/>
          <p:cNvSpPr/>
          <p:nvPr/>
        </p:nvSpPr>
        <p:spPr>
          <a:xfrm>
            <a:off x="548640" y="1737360"/>
            <a:ext cx="3520440" cy="3108960"/>
          </a:xfrm>
          <a:prstGeom prst="roundRect">
            <a:avLst>
              <a:gd name="adj" fmla="val 3529"/>
            </a:avLst>
          </a:prstGeom>
          <a:solidFill>
            <a:schemeClr val="accent4"/>
          </a:solidFill>
          <a:ln w="12700">
            <a:solidFill>
              <a:schemeClr val="accent4"/>
            </a:solidFill>
            <a:prstDash val="solid"/>
          </a:ln>
        </p:spPr>
      </p:sp>
      <p:sp>
        <p:nvSpPr>
          <p:cNvPr id="4" name="Now to 3 Nov badge"/>
          <p:cNvSpPr/>
          <p:nvPr/>
        </p:nvSpPr>
        <p:spPr>
          <a:xfrm>
            <a:off x="822960" y="1965960"/>
            <a:ext cx="822960" cy="822960"/>
          </a:xfrm>
          <a:prstGeom prst="ellipse">
            <a:avLst/>
          </a:prstGeom>
          <a:solidFill>
            <a:schemeClr val="accent1"/>
          </a:solidFill>
          <a:ln w="12700">
            <a:solidFill>
              <a:schemeClr val="accent1"/>
            </a:solidFill>
            <a:prstDash val="solid"/>
          </a:ln>
        </p:spPr>
      </p:sp>
      <p:pic>
        <p:nvPicPr>
          <p:cNvPr id="5" name="Now to 3 Nov icon" descr="Now to 3 Nov">    </p:cNvPr>
          <p:cNvPicPr>
            <a:picLocks noChangeAspect="1"/>
          </p:cNvPicPr>
          <p:nvPr/>
        </p:nvPicPr>
        <p:blipFill>
          <a:blip r:embed="rId1"/>
          <a:stretch>
            <a:fillRect/>
          </a:stretch>
        </p:blipFill>
        <p:spPr>
          <a:xfrm>
            <a:off x="1036930" y="2179930"/>
            <a:ext cx="395021" cy="395021"/>
          </a:xfrm>
          <a:prstGeom prst="rect">
            <a:avLst/>
          </a:prstGeom>
        </p:spPr>
      </p:pic>
      <p:sp>
        <p:nvSpPr>
          <p:cNvPr id="6" name="Text 3"/>
          <p:cNvSpPr txBox="1"/>
          <p:nvPr/>
        </p:nvSpPr>
        <p:spPr>
          <a:xfrm>
            <a:off x="822960" y="2971800"/>
            <a:ext cx="2971800" cy="457200"/>
          </a:xfrm>
          <a:prstGeom prst="rect">
            <a:avLst/>
          </a:prstGeom>
          <a:noFill/>
          <a:ln/>
        </p:spPr>
        <p:txBody>
          <a:bodyPr wrap="square" lIns="0" tIns="0" rIns="0" bIns="0" rtlCol="0" anchor="t"/>
          <a:lstStyle/>
          <a:p>
            <a:pPr indent="0" marL="0">
              <a:buNone/>
            </a:pPr>
            <a:r>
              <a:rPr lang="en-US" sz="2600" b="1" dirty="0">
                <a:solidFill>
                  <a:schemeClr val="bg1"/>
                </a:solidFill>
                <a:latin typeface="+mj-lt" pitchFamily="34" charset="0"/>
                <a:ea typeface="+mj-lt" pitchFamily="34" charset="-122"/>
                <a:cs typeface="+mj-lt" pitchFamily="34" charset="-120"/>
              </a:rPr>
              <a:t>Now to 3 Nov</a:t>
            </a:r>
            <a:endParaRPr lang="en-US" sz="2600" dirty="0"/>
          </a:p>
        </p:txBody>
      </p:sp>
      <p:sp>
        <p:nvSpPr>
          <p:cNvPr id="7" name="Text 4"/>
          <p:cNvSpPr txBox="1"/>
          <p:nvPr/>
        </p:nvSpPr>
        <p:spPr>
          <a:xfrm>
            <a:off x="822960" y="3520440"/>
            <a:ext cx="2971800" cy="1188720"/>
          </a:xfrm>
          <a:prstGeom prst="rect">
            <a:avLst/>
          </a:prstGeom>
          <a:noFill/>
          <a:ln/>
        </p:spPr>
        <p:txBody>
          <a:bodyPr wrap="square" lIns="0" tIns="0" rIns="0" bIns="0" rtlCol="0" anchor="t"/>
          <a:lstStyle/>
          <a:p>
            <a:pPr indent="0" marL="0">
              <a:buNone/>
            </a:pPr>
            <a:r>
              <a:rPr lang="en-US" sz="1800" dirty="0">
                <a:solidFill>
                  <a:schemeClr val="bg1"/>
                </a:solidFill>
              </a:rPr>
              <a:t>Collect the missing records and confirm the data year</a:t>
            </a:r>
            <a:endParaRPr lang="en-US" sz="1800" dirty="0"/>
          </a:p>
        </p:txBody>
      </p:sp>
      <p:sp>
        <p:nvSpPr>
          <p:cNvPr id="8" name="Step card 3 to 5 Nov"/>
          <p:cNvSpPr/>
          <p:nvPr/>
        </p:nvSpPr>
        <p:spPr>
          <a:xfrm>
            <a:off x="4343400" y="1737360"/>
            <a:ext cx="3520440" cy="3108960"/>
          </a:xfrm>
          <a:prstGeom prst="roundRect">
            <a:avLst>
              <a:gd name="adj" fmla="val 3529"/>
            </a:avLst>
          </a:prstGeom>
          <a:solidFill>
            <a:schemeClr val="accent4"/>
          </a:solidFill>
          <a:ln w="12700">
            <a:solidFill>
              <a:schemeClr val="accent4"/>
            </a:solidFill>
            <a:prstDash val="solid"/>
          </a:ln>
        </p:spPr>
      </p:sp>
      <p:sp>
        <p:nvSpPr>
          <p:cNvPr id="9" name="3 to 5 Nov badge"/>
          <p:cNvSpPr/>
          <p:nvPr/>
        </p:nvSpPr>
        <p:spPr>
          <a:xfrm>
            <a:off x="4617720" y="1965960"/>
            <a:ext cx="822960" cy="822960"/>
          </a:xfrm>
          <a:prstGeom prst="ellipse">
            <a:avLst/>
          </a:prstGeom>
          <a:solidFill>
            <a:schemeClr val="accent1"/>
          </a:solidFill>
          <a:ln w="12700">
            <a:solidFill>
              <a:schemeClr val="accent1"/>
            </a:solidFill>
            <a:prstDash val="solid"/>
          </a:ln>
        </p:spPr>
      </p:sp>
      <p:pic>
        <p:nvPicPr>
          <p:cNvPr id="10" name="3 to 5 Nov icon" descr="3 to 5 Nov">    </p:cNvPr>
          <p:cNvPicPr>
            <a:picLocks noChangeAspect="1"/>
          </p:cNvPicPr>
          <p:nvPr/>
        </p:nvPicPr>
        <p:blipFill>
          <a:blip r:embed="rId2"/>
          <a:stretch>
            <a:fillRect/>
          </a:stretch>
        </p:blipFill>
        <p:spPr>
          <a:xfrm>
            <a:off x="4831690" y="2179930"/>
            <a:ext cx="395021" cy="395021"/>
          </a:xfrm>
          <a:prstGeom prst="rect">
            <a:avLst/>
          </a:prstGeom>
        </p:spPr>
      </p:pic>
      <p:sp>
        <p:nvSpPr>
          <p:cNvPr id="11" name="Text 7"/>
          <p:cNvSpPr txBox="1"/>
          <p:nvPr/>
        </p:nvSpPr>
        <p:spPr>
          <a:xfrm>
            <a:off x="4617720" y="2971800"/>
            <a:ext cx="2971800" cy="457200"/>
          </a:xfrm>
          <a:prstGeom prst="rect">
            <a:avLst/>
          </a:prstGeom>
          <a:noFill/>
          <a:ln/>
        </p:spPr>
        <p:txBody>
          <a:bodyPr wrap="square" lIns="0" tIns="0" rIns="0" bIns="0" rtlCol="0" anchor="t"/>
          <a:lstStyle/>
          <a:p>
            <a:pPr indent="0" marL="0">
              <a:buNone/>
            </a:pPr>
            <a:r>
              <a:rPr lang="en-US" sz="2600" b="1" dirty="0">
                <a:solidFill>
                  <a:schemeClr val="bg1"/>
                </a:solidFill>
                <a:latin typeface="+mj-lt" pitchFamily="34" charset="0"/>
                <a:ea typeface="+mj-lt" pitchFamily="34" charset="-122"/>
                <a:cs typeface="+mj-lt" pitchFamily="34" charset="-120"/>
              </a:rPr>
              <a:t>3 to 5 Nov</a:t>
            </a:r>
            <a:endParaRPr lang="en-US" sz="2600" dirty="0"/>
          </a:p>
        </p:txBody>
      </p:sp>
      <p:sp>
        <p:nvSpPr>
          <p:cNvPr id="12" name="Text 8"/>
          <p:cNvSpPr txBox="1"/>
          <p:nvPr/>
        </p:nvSpPr>
        <p:spPr>
          <a:xfrm>
            <a:off x="4617720" y="3520440"/>
            <a:ext cx="2971800" cy="1188720"/>
          </a:xfrm>
          <a:prstGeom prst="rect">
            <a:avLst/>
          </a:prstGeom>
          <a:noFill/>
          <a:ln/>
        </p:spPr>
        <p:txBody>
          <a:bodyPr wrap="square" lIns="0" tIns="0" rIns="0" bIns="0" rtlCol="0" anchor="t"/>
          <a:lstStyle/>
          <a:p>
            <a:pPr indent="0" marL="0">
              <a:buNone/>
            </a:pPr>
            <a:r>
              <a:rPr lang="en-US" sz="1800" dirty="0">
                <a:solidFill>
                  <a:schemeClr val="bg1"/>
                </a:solidFill>
              </a:rPr>
              <a:t>Locked-in workshop: finalise one PDF per indicator</a:t>
            </a:r>
            <a:endParaRPr lang="en-US" sz="1800" dirty="0"/>
          </a:p>
        </p:txBody>
      </p:sp>
      <p:sp>
        <p:nvSpPr>
          <p:cNvPr id="13" name="Step card 9 Nov"/>
          <p:cNvSpPr/>
          <p:nvPr/>
        </p:nvSpPr>
        <p:spPr>
          <a:xfrm>
            <a:off x="8138160" y="1737360"/>
            <a:ext cx="3520440" cy="3108960"/>
          </a:xfrm>
          <a:prstGeom prst="roundRect">
            <a:avLst>
              <a:gd name="adj" fmla="val 3529"/>
            </a:avLst>
          </a:prstGeom>
          <a:solidFill>
            <a:schemeClr val="accent4"/>
          </a:solidFill>
          <a:ln w="12700">
            <a:solidFill>
              <a:schemeClr val="accent4"/>
            </a:solidFill>
            <a:prstDash val="solid"/>
          </a:ln>
        </p:spPr>
      </p:sp>
      <p:sp>
        <p:nvSpPr>
          <p:cNvPr id="14" name="9 Nov badge"/>
          <p:cNvSpPr/>
          <p:nvPr/>
        </p:nvSpPr>
        <p:spPr>
          <a:xfrm>
            <a:off x="8412480" y="1965960"/>
            <a:ext cx="822960" cy="822960"/>
          </a:xfrm>
          <a:prstGeom prst="ellipse">
            <a:avLst/>
          </a:prstGeom>
          <a:solidFill>
            <a:schemeClr val="accent1"/>
          </a:solidFill>
          <a:ln w="12700">
            <a:solidFill>
              <a:schemeClr val="accent1"/>
            </a:solidFill>
            <a:prstDash val="solid"/>
          </a:ln>
        </p:spPr>
      </p:sp>
      <p:pic>
        <p:nvPicPr>
          <p:cNvPr id="15" name="9 Nov icon" descr="9 Nov">    </p:cNvPr>
          <p:cNvPicPr>
            <a:picLocks noChangeAspect="1"/>
          </p:cNvPicPr>
          <p:nvPr/>
        </p:nvPicPr>
        <p:blipFill>
          <a:blip r:embed="rId3"/>
          <a:stretch>
            <a:fillRect/>
          </a:stretch>
        </p:blipFill>
        <p:spPr>
          <a:xfrm>
            <a:off x="8626450" y="2179930"/>
            <a:ext cx="395021" cy="395021"/>
          </a:xfrm>
          <a:prstGeom prst="rect">
            <a:avLst/>
          </a:prstGeom>
        </p:spPr>
      </p:pic>
      <p:sp>
        <p:nvSpPr>
          <p:cNvPr id="16" name="Text 11"/>
          <p:cNvSpPr txBox="1"/>
          <p:nvPr/>
        </p:nvSpPr>
        <p:spPr>
          <a:xfrm>
            <a:off x="8412480" y="2971800"/>
            <a:ext cx="2971800" cy="457200"/>
          </a:xfrm>
          <a:prstGeom prst="rect">
            <a:avLst/>
          </a:prstGeom>
          <a:noFill/>
          <a:ln/>
        </p:spPr>
        <p:txBody>
          <a:bodyPr wrap="square" lIns="0" tIns="0" rIns="0" bIns="0" rtlCol="0" anchor="t"/>
          <a:lstStyle/>
          <a:p>
            <a:pPr indent="0" marL="0">
              <a:buNone/>
            </a:pPr>
            <a:r>
              <a:rPr lang="en-US" sz="2600" b="1" dirty="0">
                <a:solidFill>
                  <a:schemeClr val="bg1"/>
                </a:solidFill>
                <a:latin typeface="+mj-lt" pitchFamily="34" charset="0"/>
                <a:ea typeface="+mj-lt" pitchFamily="34" charset="-122"/>
                <a:cs typeface="+mj-lt" pitchFamily="34" charset="-120"/>
              </a:rPr>
              <a:t>9 Nov</a:t>
            </a:r>
            <a:endParaRPr lang="en-US" sz="2600" dirty="0"/>
          </a:p>
        </p:txBody>
      </p:sp>
      <p:sp>
        <p:nvSpPr>
          <p:cNvPr id="17" name="Text 12"/>
          <p:cNvSpPr txBox="1"/>
          <p:nvPr/>
        </p:nvSpPr>
        <p:spPr>
          <a:xfrm>
            <a:off x="8412480" y="3520440"/>
            <a:ext cx="2971800" cy="1188720"/>
          </a:xfrm>
          <a:prstGeom prst="rect">
            <a:avLst/>
          </a:prstGeom>
          <a:noFill/>
          <a:ln/>
        </p:spPr>
        <p:txBody>
          <a:bodyPr wrap="square" lIns="0" tIns="0" rIns="0" bIns="0" rtlCol="0" anchor="t"/>
          <a:lstStyle/>
          <a:p>
            <a:pPr indent="0" marL="0">
              <a:buNone/>
            </a:pPr>
            <a:r>
              <a:rPr lang="en-US" sz="1800" dirty="0">
                <a:solidFill>
                  <a:schemeClr val="bg1"/>
                </a:solidFill>
              </a:rPr>
              <a:t>THE data due: upload the final PDFs</a:t>
            </a:r>
            <a:endParaRPr lang="en-US" sz="1800" dirty="0"/>
          </a:p>
        </p:txBody>
      </p:sp>
      <p:sp>
        <p:nvSpPr>
          <p:cNvPr id="18" name="Text 13"/>
          <p:cNvSpPr txBox="1"/>
          <p:nvPr/>
        </p:nvSpPr>
        <p:spPr>
          <a:xfrm>
            <a:off x="548640" y="5303520"/>
            <a:ext cx="11064240" cy="457200"/>
          </a:xfrm>
          <a:prstGeom prst="rect">
            <a:avLst/>
          </a:prstGeom>
          <a:noFill/>
          <a:ln/>
        </p:spPr>
        <p:txBody>
          <a:bodyPr wrap="square" lIns="0" tIns="0" rIns="0" bIns="0" rtlCol="0" anchor="t"/>
          <a:lstStyle/>
          <a:p>
            <a:pPr indent="0" marL="0">
              <a:buNone/>
            </a:pPr>
            <a:r>
              <a:rPr lang="en-US" sz="1600" dirty="0">
                <a:solidFill>
                  <a:schemeClr val="accent6"/>
                </a:solidFill>
              </a:rPr>
              <a:t>The Special Order also lists a session on 29 November, after the deadline. Please verify that date.</a:t>
            </a:r>
            <a:endParaRPr lang="en-US" sz="16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MMSU SDG 15">
  <a:themeElements>
    <a:clrScheme name="MMSU SDG 15">
      <a:dk1>
        <a:srgbClr val="1D1D1B"/>
      </a:dk1>
      <a:lt1>
        <a:srgbClr val="FFFFFF"/>
      </a:lt1>
      <a:dk2>
        <a:srgbClr val="0B4A16"/>
      </a:dk2>
      <a:lt2>
        <a:srgbClr val="EEF6EA"/>
      </a:lt2>
      <a:accent1>
        <a:srgbClr val="3FAA3A"/>
      </a:accent1>
      <a:accent2>
        <a:srgbClr val="56C02B"/>
      </a:accent2>
      <a:accent3>
        <a:srgbClr val="B45309"/>
      </a:accent3>
      <a:accent4>
        <a:srgbClr val="2C6E2A"/>
      </a:accent4>
      <a:accent5>
        <a:srgbClr val="5B5B57"/>
      </a:accent5>
      <a:accent6>
        <a:srgbClr val="E3B04B"/>
      </a:accent6>
      <a:hlink>
        <a:srgbClr val="2C6E2A"/>
      </a:hlink>
      <a:folHlink>
        <a:srgbClr val="5B5B57"/>
      </a:folHlink>
    </a:clrScheme>
    <a:fontScheme name="MMSU SDG 15">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SDG 15 Life on Land: evidence update</dc:title>
  <dc:subject>PptxGenJS Presentation</dc:subject>
  <dc:creator>SDG 15 focal persons, Mariano Marcos State University</dc:creator>
  <cp:lastModifiedBy>SDG 15 focal persons, Mariano Marcos State University</cp:lastModifiedBy>
  <cp:revision>1</cp:revision>
  <dcterms:created xsi:type="dcterms:W3CDTF">2026-10-30T02:45:25Z</dcterms:created>
  <dcterms:modified xsi:type="dcterms:W3CDTF">2026-10-30T02:45:25Z</dcterms:modified>
</cp:coreProperties>
</file>